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present our work on adaptive token importance weighting for PPO-based RLHF.</a:t>
            </a:r>
          </a:p>
          <a:p/>
          <a:p>
            <a:r>
              <a:t>The key question we started with: can we make PPO training more efficient by focusing gradient updates on the tokens that matter most? The answer turns out to be yes, but with a critical caveat about managing bias over training.</a:t>
            </a:r>
          </a:p>
          <a:p/>
          <a:p>
            <a:r>
              <a:t>We'll cover two methods: AITI, which uses a fixed decay schedule, and MOAI, which derives the optimal weighting intensity from a closed-form formula. Both achieve Pareto improvements over standard PPO.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PPO treats all tokens in a generated sequence equally. But clearly some tokens matter more than others. Function words like "the" carry little reward signal, while words like "surprisingly" or "delicious" are where the model is actually learning.</a:t>
            </a:r>
          </a:p>
          <a:p/>
          <a:p>
            <a:r>
              <a:t>TI-DPO showed that token importance weighting helps in the offline DPO setting, where you have chosen/rejected pairs. We asked: does this transfer to online PPO?</a:t>
            </a:r>
          </a:p>
          <a:p/>
          <a:p>
            <a:r>
              <a:t>The answer is no - the paper's DPO-derived signals don't work in PPO because there are no contrastive pairs. But investigating WHY fixed importance weighting fails in PPO led us to a fundamental insight about bias accumulation.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derived two PPO-native importance methods that don't need DPO's contrastive pairs: entropy weighting (focus on uncertain tokens) and advantage magnitude weighting (focus on high-signal tokens).</a:t>
            </a:r>
          </a:p>
          <a:p/>
          <a:p>
            <a:r>
              <a:t>At 100 episodes, both beat PPO significantly - entropy reached 0.872 reward vs PPO's 0.791. Great!</a:t>
            </a:r>
          </a:p>
          <a:p/>
          <a:p>
            <a:r>
              <a:t>But at 150 episodes, something disturbing happened. Both importance methods DEGRADED while PPO baseline kept improving. PPO reached 0.850 while entropy dropped to 0.797.</a:t>
            </a:r>
          </a:p>
          <a:p/>
          <a:p>
            <a:r>
              <a:t>This pattern was consistent across ALL importance methods we tested. Something fundamental is wrong with fixed-intensity importance weighting in online RL. Why?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fundamental insight. When we weight the PPO gradient by importance scores w(t), we introduce a BIAS equal to Cov(w, f) - the covariance between the weights and the gradient.</a:t>
            </a:r>
          </a:p>
          <a:p/>
          <a:p>
            <a:r>
              <a:t>If the weights correlate with gradient magnitude - which is the entire POINT of importance weighting - then this covariance is nonzero and the estimator is biased.</a:t>
            </a:r>
          </a:p>
          <a:p/>
          <a:p>
            <a:r>
              <a:t>The key: variance decreases as O(1/sqrt(N)) with more data, but bias is PERSISTENT. It doesn't average out - it accumulates step after step.</a:t>
            </a:r>
          </a:p>
          <a:p/>
          <a:p>
            <a:r>
              <a:t>Early in training, variance is high and bias is small relative to overall error - so importance weighting helps through variance reduction. But late in training, variance is naturally low and accumulated bias dominates - so importance weighting hurts.</a:t>
            </a:r>
          </a:p>
          <a:p/>
          <a:p>
            <a:r>
              <a:t>This explains the degradation we saw. It's not a bug in any specific method - it's a fundamental property of non-uniform weighting in online policy gradient.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is simple: decay the importance intensity over training.</a:t>
            </a:r>
          </a:p>
          <a:p/>
          <a:p>
            <a:r>
              <a:t>Instead of using raw weights w(t) = s(t), we use w(t) = 1 + epsilon * (s(t) - 1), where epsilon decays from 1 to 0.</a:t>
            </a:r>
          </a:p>
          <a:p/>
          <a:p>
            <a:r>
              <a:t>When epsilon is 1, you get full importance weighting - maximum variance reduction. When epsilon is 0, you get uniform PPO - zero bias.</a:t>
            </a:r>
          </a:p>
          <a:p/>
          <a:p>
            <a:r>
              <a:t>Think of it like learning rate scheduling, but for gradient quality rather than step size. Early in training, you want low-variance gradients even if they're biased. Late in training, you want unbiased gradients even if they're noisier.</a:t>
            </a:r>
          </a:p>
          <a:p/>
          <a:p>
            <a:r>
              <a:t>The implementation is trivial - 15 lines of code wrapping any existing importance scorer.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AITI-Advantage with linear decay is the ONLY method that Pareto-dominates uniform PPO.</a:t>
            </a:r>
          </a:p>
          <a:p/>
          <a:p>
            <a:r>
              <a:t>It achieves 4.5% higher reward AND 2.5 times lower KL divergence simultaneously. That means the resulting policy is both better at the task AND closer to the reference model.</a:t>
            </a:r>
          </a:p>
          <a:p/>
          <a:p>
            <a:r>
              <a:t>The KL-efficiency - reward per unit of KL divergence - is 54.1, nearly 3x better than PPO's 20.4.</a:t>
            </a:r>
          </a:p>
          <a:p/>
          <a:p>
            <a:r>
              <a:t>Importantly, without the decay, entropy weighting achieves similar reward but with NEGATIVE KL and very low efficiency. And AITI-Entropy with quadratic decay is decent but not Pareto-optimal. The advantage magnitude scorer combined with linear decay is the winning combination.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AITI works but requires tuning the decay_steps hyperparameter. Can we derive epsilon from data instead?</a:t>
            </a:r>
          </a:p>
          <a:p/>
          <a:p>
            <a:r>
              <a:t>We minimize the Mean Squared Error of the weighted gradient estimator. The MSE decomposes into bias-squared plus variance, both functions of epsilon. Taking the derivative and setting to zero gives us a beautiful closed-form: epsilon-star equals negative rho over T-C-squared plus tau-squared.</a:t>
            </a:r>
          </a:p>
          <a:p/>
          <a:p>
            <a:r>
              <a:t>This formula has three interesting predictions. First, epsilon depends on T - the token count - meaning longer sequences naturally need less importance weighting. This is testable and has practical implications for long-context RLHF.</a:t>
            </a:r>
          </a:p>
          <a:p/>
          <a:p>
            <a:r>
              <a:t>Second, epsilon naturally decreases as training progresses because C - the importance-loss correlation - grows over time.</a:t>
            </a:r>
          </a:p>
          <a:p/>
          <a:p>
            <a:r>
              <a:t>Third, importance weighting helps (epsilon &gt; 0) only when rho &lt; 0, which is exactly what advantage magnitude weighting provides.</a:t>
            </a:r>
          </a:p>
          <a:p/>
          <a:p>
            <a:r>
              <a:t>This closed-form is new. Prior work by Korba and Portier uses cross-validation; Hachiya et al. use importance-weighted cross-validation. Nobody has derived the optimal intensity from MSE minimization.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actually ran MOAI, we hit a theory-practice gap. The per-step epsilon oscillates wildly instead of smoothly decaying. It bounces between 0.5 and 1.0 because the batch-level estimates of C, rho, and tau-squared are too noisy with only 4 sequences per batch.</a:t>
            </a:r>
          </a:p>
          <a:p/>
          <a:p>
            <a:r>
              <a:t>The formula is mathematically correct in expectation, but practically unstable sample-by-sample. Free MOAI gets worse reward than PPO baseline.</a:t>
            </a:r>
          </a:p>
          <a:p/>
          <a:p>
            <a:r>
              <a:t>The fix is simple but powerful: add a monotone constraint. Epsilon can only decrease, never increase. This creates a "find-and-lock" behavior: epsilon drops rapidly in early training as the formula responds to growing covariance, then LOCKS at around 0.24 because subsequent epsilon estimates are higher but the constraint prevents going back up.</a:t>
            </a:r>
          </a:p>
          <a:p/>
          <a:p>
            <a:r>
              <a:t>The result is dramatic: monotone MOAI gets 0.880 reward - 14% better than free MOAI and the highest of ANY method we tested.</a:t>
            </a:r>
          </a:p>
          <a:p/>
          <a:p>
            <a:r>
              <a:t>This parallels a well-known phenomenon in deep learning: fixed schedules often beat adaptive methods because per-step optimality doesn't equal trajectory optimality when estimates are noisy.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final results across all methods. Three methods sit on the Pareto frontier:</a:t>
            </a:r>
          </a:p>
          <a:p/>
          <a:p>
            <a:r>
              <a:t>MOAI-Advantage monotone with ema 0.80 achieves the HIGHEST reward at 0.880, but with moderate KL at 0.056. It locked epsilon at 0.24.</a:t>
            </a:r>
          </a:p>
          <a:p/>
          <a:p>
            <a:r>
              <a:t>AITI-Advantage provides the best reward-KL TRADEOFF at 0.874 reward and only 0.031 KL.</a:t>
            </a:r>
          </a:p>
          <a:p/>
          <a:p>
            <a:r>
              <a:t>PPO baseline is Pareto-optimal in the low-KL region at 0.028.</a:t>
            </a:r>
          </a:p>
          <a:p/>
          <a:p>
            <a:r>
              <a:t>The surprise finding: AITI decays epsilon all the way to zero, assuming you should eventually use uniform weighting. But MOAI's closed-form consistently says the optimal epsilon is POSITIVE - around 0.24. This means some permanent token-level differentiation is beneficial, even late in training.</a:t>
            </a:r>
          </a:p>
          <a:p/>
          <a:p>
            <a:r>
              <a:t>Why? Even in a nearly-converged model, high-advantage tokens genuinely have more informative gradients. The bias from weighting them is small (the advantage landscape is stable), while the variance reduction is still useful.</a:t>
            </a:r>
          </a:p>
          <a:p/>
          <a:p>
            <a:r>
              <a:t>Also note the free MOAI result - without the monotone constraint, it performs WORSE than PPO baseline. The stability from monotonicity is worth 14% reward.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summarize the five key findings:</a:t>
            </a:r>
          </a:p>
          <a:p/>
          <a:p>
            <a:r>
              <a:t>First, we identified the bias-variance tradeoff of token importance in PPO. The bias from non-uniform weighting accumulates step by step, while variance reduction is temporary.</a:t>
            </a:r>
          </a:p>
          <a:p/>
          <a:p>
            <a:r>
              <a:t>Second, AITI solves this with a simple linear decay schedule, achieving the first Pareto-optimal token importance for PPO.</a:t>
            </a:r>
          </a:p>
          <a:p/>
          <a:p>
            <a:r>
              <a:t>Third, we derived the MSE-optimal importance intensity as a closed-form formula. This is new in the importance sampling literature, and it predicts that longer sequences need less weighting.</a:t>
            </a:r>
          </a:p>
          <a:p/>
          <a:p>
            <a:r>
              <a:t>Fourth, we discovered a theory-practice gap: the per-step optimal epsilon oscillates due to noisy batch statistics. A monotone constraint fixes this, giving a 14% reward improvement. This adds to evidence that scheduled methods can beat adaptive ones.</a:t>
            </a:r>
          </a:p>
          <a:p/>
          <a:p>
            <a:r>
              <a:t>Fifth, the surprise: MOAI discovers that the optimal epsilon isn't zero - it's around 0.24. Some permanent importance weighting is always beneficial, contradicting AITI's full-decay-to-uniform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practitioners: AITI is dead simple to implement - 15 lines of code, no extra model calls, just wrap your PPO loss with an epsilon that decays linearly. Use advantage magnitude as your importance scorer since it's already computed in PPO.</a:t>
            </a:r>
          </a:p>
          <a:p/>
          <a:p>
            <a:r>
              <a:t>For those who want to avoid tuning decay_steps, monotone MOAI eliminates that hyperparameter. It's slightly more complex but fully data-adaptive.</a:t>
            </a:r>
          </a:p>
          <a:p/>
          <a:p>
            <a:r>
              <a:t>For researchers: the sequence length prediction is directly testable. As models move to longer contexts in RLHF, does the optimal epsilon decrease? This could have practical implications for how we train large models.</a:t>
            </a:r>
          </a:p>
          <a:p/>
          <a:p>
            <a:r>
              <a:t>The find-and-lock strategy may generalize beyond importance weighting to other adaptive hyperparameters in RL.</a:t>
            </a:r>
          </a:p>
          <a:p/>
          <a:p>
            <a:r>
              <a:t>The main limitations are scale - we used GPT-2 with a synthetic reward - and single seeds. These results need validation at 7B+ scale with learned reward models and multiple seeds for statistical significance.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To summarize:</a:t>
            </a:r>
          </a:p>
          <a:p/>
          <a:p>
            <a:r>
              <a:t>We identified why token importance weighting fails in PPO - the bias-variance tradeoff.</a:t>
            </a:r>
          </a:p>
          <a:p/>
          <a:p>
            <a:r>
              <a:t>We proposed AITI which achieves Pareto dominance through simple intensity decay.</a:t>
            </a:r>
          </a:p>
          <a:p/>
          <a:p>
            <a:r>
              <a:t>We derived MOAI - the first closed-form MSE-optimal importance intensity - and discovered that monotone-constrained MOAI achieves the highest reward by finding and locking at a positive epsilon.</a:t>
            </a:r>
          </a:p>
          <a:p/>
          <a:p>
            <a:r>
              <a:t>The code includes 19 different importance methods and 6 benchmark scripts.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332720" cy="1371600"/>
          </a:xfrm>
          <a:prstGeom prst="rect">
            <a:avLst/>
          </a:prstGeom>
          <a:noFill/>
        </p:spPr>
        <p:txBody>
          <a:bodyPr wrap="square">
            <a:spAutoFit/>
          </a:bodyPr>
          <a:lstStyle/>
          <a:p>
            <a:pPr algn="ctr">
              <a:defRPr sz="4000" b="1">
                <a:solidFill>
                  <a:srgbClr val="FFFFFF"/>
                </a:solidFill>
                <a:latin typeface="Calibri"/>
              </a:defRPr>
            </a:pPr>
            <a:r>
              <a:t>Adaptive Intensity Token Importance</a:t>
            </a:r>
            <a:br/>
            <a:r>
              <a:t>for PPO-Based RLHF</a:t>
            </a:r>
          </a:p>
        </p:txBody>
      </p:sp>
      <p:sp>
        <p:nvSpPr>
          <p:cNvPr id="3" name="TextBox 2"/>
          <p:cNvSpPr txBox="1"/>
          <p:nvPr/>
        </p:nvSpPr>
        <p:spPr>
          <a:xfrm>
            <a:off x="914400" y="3200400"/>
            <a:ext cx="10332720" cy="731520"/>
          </a:xfrm>
          <a:prstGeom prst="rect">
            <a:avLst/>
          </a:prstGeom>
          <a:noFill/>
        </p:spPr>
        <p:txBody>
          <a:bodyPr wrap="square">
            <a:spAutoFit/>
          </a:bodyPr>
          <a:lstStyle/>
          <a:p>
            <a:pPr algn="ctr">
              <a:defRPr sz="2400" b="0">
                <a:solidFill>
                  <a:srgbClr val="00D2FF"/>
                </a:solidFill>
                <a:latin typeface="Calibri"/>
              </a:defRPr>
            </a:pPr>
            <a:r>
              <a:t>From Bias-Variance Analysis to MSE-Optimal Weighting</a:t>
            </a:r>
          </a:p>
        </p:txBody>
      </p:sp>
      <p:sp>
        <p:nvSpPr>
          <p:cNvPr id="4" name="TextBox 3"/>
          <p:cNvSpPr txBox="1"/>
          <p:nvPr/>
        </p:nvSpPr>
        <p:spPr>
          <a:xfrm>
            <a:off x="914400" y="4572000"/>
            <a:ext cx="10332720" cy="457200"/>
          </a:xfrm>
          <a:prstGeom prst="rect">
            <a:avLst/>
          </a:prstGeom>
          <a:noFill/>
        </p:spPr>
        <p:txBody>
          <a:bodyPr wrap="square">
            <a:spAutoFit/>
          </a:bodyPr>
          <a:lstStyle/>
          <a:p>
            <a:pPr algn="ctr">
              <a:defRPr sz="1800" b="0">
                <a:solidFill>
                  <a:srgbClr val="CCCCCC"/>
                </a:solidFill>
                <a:latin typeface="Calibri"/>
              </a:defRPr>
            </a:pPr>
            <a:r>
              <a:t>AITI  |  MOAI  |  Token-Level Importance for Online RLHF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200" b="1">
                <a:solidFill>
                  <a:srgbClr val="00D2FF"/>
                </a:solidFill>
                <a:latin typeface="Calibri"/>
              </a:defRPr>
            </a:pPr>
            <a:r>
              <a:t>The Problem: Not All Tokens Are Equal</a:t>
            </a:r>
          </a:p>
        </p:txBody>
      </p:sp>
      <p:sp>
        <p:nvSpPr>
          <p:cNvPr id="3" name="TextBox 2"/>
          <p:cNvSpPr txBox="1"/>
          <p:nvPr/>
        </p:nvSpPr>
        <p:spPr>
          <a:xfrm>
            <a:off x="457200" y="1188720"/>
            <a:ext cx="5486400" cy="4572000"/>
          </a:xfrm>
          <a:prstGeom prst="rect">
            <a:avLst/>
          </a:prstGeom>
          <a:noFill/>
        </p:spPr>
        <p:txBody>
          <a:bodyPr wrap="square">
            <a:spAutoFit/>
          </a:bodyPr>
          <a:lstStyle/>
          <a:p>
            <a:pPr algn="l">
              <a:defRPr sz="2000" b="0">
                <a:solidFill>
                  <a:srgbClr val="FFFFFF"/>
                </a:solidFill>
                <a:latin typeface="Calibri"/>
              </a:defRPr>
            </a:pPr>
            <a:r>
              <a:t>Standard PPO treats every token equally:</a:t>
            </a:r>
          </a:p>
          <a:p>
            <a:pPr>
              <a:spcBef>
                <a:spcPts val="600"/>
              </a:spcBef>
              <a:defRPr sz="1400" b="0">
                <a:solidFill>
                  <a:srgbClr val="FFFFFF"/>
                </a:solidFill>
                <a:latin typeface="Calibri"/>
              </a:defRPr>
            </a:pPr>
          </a:p>
          <a:p>
            <a:pPr>
              <a:spcBef>
                <a:spcPts val="1200"/>
              </a:spcBef>
              <a:defRPr sz="1800" b="1">
                <a:solidFill>
                  <a:srgbClr val="FFD700"/>
                </a:solidFill>
                <a:latin typeface="Calibri"/>
              </a:defRPr>
            </a:pPr>
            <a:r>
              <a:t>L = (1/T) Sum_t  min(r_t * A_t, clip(r_t) * A_t)</a:t>
            </a:r>
          </a:p>
          <a:p>
            <a:pPr>
              <a:spcBef>
                <a:spcPts val="600"/>
              </a:spcBef>
              <a:defRPr sz="1000" b="0">
                <a:solidFill>
                  <a:srgbClr val="FFFFFF"/>
                </a:solidFill>
                <a:latin typeface="Calibri"/>
              </a:defRPr>
            </a:pPr>
          </a:p>
          <a:p>
            <a:pPr>
              <a:spcBef>
                <a:spcPts val="1600"/>
              </a:spcBef>
              <a:defRPr sz="2000" b="0">
                <a:solidFill>
                  <a:srgbClr val="FFFFFF"/>
                </a:solidFill>
                <a:latin typeface="Calibri"/>
              </a:defRPr>
            </a:pPr>
            <a:r>
              <a:t>But in a sentence like:</a:t>
            </a:r>
          </a:p>
          <a:p>
            <a:pPr>
              <a:spcBef>
                <a:spcPts val="800"/>
              </a:spcBef>
              <a:defRPr sz="2000" b="1">
                <a:solidFill>
                  <a:srgbClr val="00D2FF"/>
                </a:solidFill>
                <a:latin typeface="Calibri"/>
              </a:defRPr>
            </a:pPr>
            <a:r>
              <a:t>"The food was surprisingly delicious."</a:t>
            </a:r>
          </a:p>
          <a:p>
            <a:pPr>
              <a:spcBef>
                <a:spcPts val="600"/>
              </a:spcBef>
              <a:defRPr sz="1000" b="0">
                <a:solidFill>
                  <a:srgbClr val="FFFFFF"/>
                </a:solidFill>
                <a:latin typeface="Calibri"/>
              </a:defRPr>
            </a:pPr>
          </a:p>
          <a:p>
            <a:pPr>
              <a:spcBef>
                <a:spcPts val="800"/>
              </a:spcBef>
              <a:defRPr sz="1600" b="0">
                <a:solidFill>
                  <a:srgbClr val="CCCCCC"/>
                </a:solidFill>
                <a:latin typeface="Calibri"/>
              </a:defRPr>
            </a:pPr>
            <a:r>
              <a:t>  "The"  -  function word, low signal</a:t>
            </a:r>
          </a:p>
          <a:p>
            <a:pPr>
              <a:spcBef>
                <a:spcPts val="400"/>
              </a:spcBef>
              <a:defRPr sz="1600" b="0">
                <a:solidFill>
                  <a:srgbClr val="00E676"/>
                </a:solidFill>
                <a:latin typeface="Calibri"/>
              </a:defRPr>
            </a:pPr>
            <a:r>
              <a:t>  "surprisingly"  -  high uncertainty, high signal</a:t>
            </a:r>
          </a:p>
          <a:p>
            <a:pPr>
              <a:spcBef>
                <a:spcPts val="400"/>
              </a:spcBef>
              <a:defRPr sz="1600" b="0">
                <a:solidFill>
                  <a:srgbClr val="00E676"/>
                </a:solidFill>
                <a:latin typeface="Calibri"/>
              </a:defRPr>
            </a:pPr>
            <a:r>
              <a:t>  "delicious"  -  reward-carrying, high advantage</a:t>
            </a:r>
          </a:p>
          <a:p>
            <a:pPr>
              <a:spcBef>
                <a:spcPts val="600"/>
              </a:spcBef>
              <a:defRPr sz="1000" b="0">
                <a:solidFill>
                  <a:srgbClr val="FFFFFF"/>
                </a:solidFill>
                <a:latin typeface="Calibri"/>
              </a:defRPr>
            </a:pPr>
          </a:p>
          <a:p>
            <a:pPr>
              <a:spcBef>
                <a:spcPts val="1600"/>
              </a:spcBef>
              <a:defRPr sz="2200" b="1">
                <a:solidFill>
                  <a:srgbClr val="FFFFFF"/>
                </a:solidFill>
                <a:latin typeface="Calibri"/>
              </a:defRPr>
            </a:pPr>
            <a:r>
              <a:t>Can we weight tokens by importance?</a:t>
            </a:r>
          </a:p>
        </p:txBody>
      </p:sp>
      <p:sp>
        <p:nvSpPr>
          <p:cNvPr id="4" name="TextBox 3"/>
          <p:cNvSpPr txBox="1"/>
          <p:nvPr/>
        </p:nvSpPr>
        <p:spPr>
          <a:xfrm>
            <a:off x="6400800" y="1188720"/>
            <a:ext cx="5303520" cy="4572000"/>
          </a:xfrm>
          <a:prstGeom prst="rect">
            <a:avLst/>
          </a:prstGeom>
          <a:noFill/>
        </p:spPr>
        <p:txBody>
          <a:bodyPr wrap="square">
            <a:spAutoFit/>
          </a:bodyPr>
          <a:lstStyle/>
          <a:p>
            <a:pPr algn="l">
              <a:defRPr sz="2000" b="1">
                <a:solidFill>
                  <a:srgbClr val="FF8C00"/>
                </a:solidFill>
                <a:latin typeface="Calibri"/>
              </a:defRPr>
            </a:pPr>
            <a:r>
              <a:t>Prior work: TI-DPO (Yang et al. 2025)</a:t>
            </a:r>
          </a:p>
          <a:p>
            <a:pPr>
              <a:spcBef>
                <a:spcPts val="1200"/>
              </a:spcBef>
              <a:defRPr sz="1700" b="0">
                <a:solidFill>
                  <a:srgbClr val="CCCCCC"/>
                </a:solidFill>
                <a:latin typeface="Calibri"/>
              </a:defRPr>
            </a:pPr>
            <a:r>
              <a:t>  Token importance for DPO (offline)</a:t>
            </a:r>
          </a:p>
          <a:p>
            <a:pPr>
              <a:spcBef>
                <a:spcPts val="400"/>
              </a:spcBef>
              <a:defRPr sz="1700" b="0">
                <a:solidFill>
                  <a:srgbClr val="CCCCCC"/>
                </a:solidFill>
                <a:latin typeface="Calibri"/>
              </a:defRPr>
            </a:pPr>
            <a:r>
              <a:t>  Uses gradient attribution + Gaussian prior</a:t>
            </a:r>
          </a:p>
          <a:p>
            <a:pPr>
              <a:spcBef>
                <a:spcPts val="400"/>
              </a:spcBef>
              <a:defRPr sz="1700" b="0">
                <a:solidFill>
                  <a:srgbClr val="CCCCCC"/>
                </a:solidFill>
                <a:latin typeface="Calibri"/>
              </a:defRPr>
            </a:pPr>
            <a:r>
              <a:t>  Works well for preference pairs</a:t>
            </a:r>
          </a:p>
          <a:p>
            <a:pPr>
              <a:spcBef>
                <a:spcPts val="600"/>
              </a:spcBef>
              <a:defRPr sz="1400" b="0">
                <a:solidFill>
                  <a:srgbClr val="FFFFFF"/>
                </a:solidFill>
                <a:latin typeface="Calibri"/>
              </a:defRPr>
            </a:pPr>
          </a:p>
          <a:p>
            <a:pPr>
              <a:spcBef>
                <a:spcPts val="1200"/>
              </a:spcBef>
              <a:defRPr sz="2000" b="1">
                <a:solidFill>
                  <a:srgbClr val="FFFFFF"/>
                </a:solidFill>
                <a:latin typeface="Calibri"/>
              </a:defRPr>
            </a:pPr>
            <a:r>
              <a:t>Our question:</a:t>
            </a:r>
          </a:p>
          <a:p>
            <a:pPr>
              <a:spcBef>
                <a:spcPts val="800"/>
              </a:spcBef>
              <a:defRPr sz="2200" b="1">
                <a:solidFill>
                  <a:srgbClr val="00D2FF"/>
                </a:solidFill>
                <a:latin typeface="Calibri"/>
              </a:defRPr>
            </a:pPr>
            <a:r>
              <a:t>Does this transfer to PPO (online)?</a:t>
            </a:r>
          </a:p>
          <a:p>
            <a:pPr>
              <a:spcBef>
                <a:spcPts val="600"/>
              </a:spcBef>
              <a:defRPr sz="1400" b="0">
                <a:solidFill>
                  <a:srgbClr val="FFFFFF"/>
                </a:solidFill>
                <a:latin typeface="Calibri"/>
              </a:defRPr>
            </a:pPr>
          </a:p>
          <a:p>
            <a:pPr>
              <a:spcBef>
                <a:spcPts val="1200"/>
              </a:spcBef>
              <a:defRPr sz="2200" b="1">
                <a:solidFill>
                  <a:srgbClr val="FF4545"/>
                </a:solidFill>
                <a:latin typeface="Calibri"/>
              </a:defRPr>
            </a:pPr>
            <a:r>
              <a:t>Short answer: No.</a:t>
            </a:r>
          </a:p>
          <a:p>
            <a:pPr>
              <a:spcBef>
                <a:spcPts val="800"/>
              </a:spcBef>
              <a:defRPr sz="1800" b="0">
                <a:solidFill>
                  <a:srgbClr val="CCCCCC"/>
                </a:solidFill>
                <a:latin typeface="Calibri"/>
              </a:defRPr>
            </a:pPr>
            <a:r>
              <a:t>But investigating WHY led to</a:t>
            </a:r>
          </a:p>
          <a:p>
            <a:pPr>
              <a:spcBef>
                <a:spcPts val="400"/>
              </a:spcBef>
              <a:defRPr sz="1800" b="0">
                <a:solidFill>
                  <a:srgbClr val="CCCCCC"/>
                </a:solidFill>
                <a:latin typeface="Calibri"/>
              </a:defRPr>
            </a:pPr>
            <a:r>
              <a:t>a fundamental insight...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000" b="1">
                <a:solidFill>
                  <a:srgbClr val="00D2FF"/>
                </a:solidFill>
                <a:latin typeface="Calibri"/>
              </a:defRPr>
            </a:pPr>
            <a:r>
              <a:t>PPO-Native Importance Methods: Initial Promise, Then Failure</a:t>
            </a:r>
          </a:p>
        </p:txBody>
      </p:sp>
      <p:sp>
        <p:nvSpPr>
          <p:cNvPr id="3" name="TextBox 2"/>
          <p:cNvSpPr txBox="1"/>
          <p:nvPr/>
        </p:nvSpPr>
        <p:spPr>
          <a:xfrm>
            <a:off x="457200" y="1188720"/>
            <a:ext cx="5486400" cy="2286000"/>
          </a:xfrm>
          <a:prstGeom prst="rect">
            <a:avLst/>
          </a:prstGeom>
          <a:noFill/>
        </p:spPr>
        <p:txBody>
          <a:bodyPr wrap="square">
            <a:spAutoFit/>
          </a:bodyPr>
          <a:lstStyle/>
          <a:p>
            <a:pPr algn="l">
              <a:defRPr sz="2000" b="0">
                <a:solidFill>
                  <a:srgbClr val="FFFFFF"/>
                </a:solidFill>
                <a:latin typeface="Calibri"/>
              </a:defRPr>
            </a:pPr>
            <a:r>
              <a:t>We derived importance from PPO signals:</a:t>
            </a:r>
          </a:p>
          <a:p>
            <a:pPr>
              <a:spcBef>
                <a:spcPts val="600"/>
              </a:spcBef>
              <a:defRPr sz="800" b="0">
                <a:solidFill>
                  <a:srgbClr val="FFFFFF"/>
                </a:solidFill>
                <a:latin typeface="Calibri"/>
              </a:defRPr>
            </a:pPr>
          </a:p>
          <a:p>
            <a:pPr>
              <a:spcBef>
                <a:spcPts val="800"/>
              </a:spcBef>
              <a:defRPr sz="1700" b="0">
                <a:solidFill>
                  <a:srgbClr val="00E676"/>
                </a:solidFill>
                <a:latin typeface="Calibri"/>
              </a:defRPr>
            </a:pPr>
            <a:r>
              <a:t>Entropy:  w(t) = H(pi(.|s_t)) / mean(H)</a:t>
            </a:r>
          </a:p>
          <a:p>
            <a:pPr>
              <a:spcBef>
                <a:spcPts val="200"/>
              </a:spcBef>
              <a:defRPr sz="1500" b="0">
                <a:solidFill>
                  <a:srgbClr val="CCCCCC"/>
                </a:solidFill>
                <a:latin typeface="Calibri"/>
              </a:defRPr>
            </a:pPr>
            <a:r>
              <a:t>  Focus on uncertain tokens</a:t>
            </a:r>
          </a:p>
          <a:p>
            <a:pPr>
              <a:spcBef>
                <a:spcPts val="1200"/>
              </a:spcBef>
              <a:defRPr sz="1700" b="0">
                <a:solidFill>
                  <a:srgbClr val="00E676"/>
                </a:solidFill>
                <a:latin typeface="Calibri"/>
              </a:defRPr>
            </a:pPr>
            <a:r>
              <a:t>|Advantage|:  w(t) = |A(t)| / mean(|A|)</a:t>
            </a:r>
          </a:p>
          <a:p>
            <a:pPr>
              <a:spcBef>
                <a:spcPts val="200"/>
              </a:spcBef>
              <a:defRPr sz="1500" b="0">
                <a:solidFill>
                  <a:srgbClr val="CCCCCC"/>
                </a:solidFill>
                <a:latin typeface="Calibri"/>
              </a:defRPr>
            </a:pPr>
            <a:r>
              <a:t>  Focus on high-signal tokens</a:t>
            </a:r>
          </a:p>
        </p:txBody>
      </p:sp>
      <p:sp>
        <p:nvSpPr>
          <p:cNvPr id="4" name="TextBox 3"/>
          <p:cNvSpPr txBox="1"/>
          <p:nvPr/>
        </p:nvSpPr>
        <p:spPr>
          <a:xfrm>
            <a:off x="457200" y="3657600"/>
            <a:ext cx="10972800" cy="2743200"/>
          </a:xfrm>
          <a:prstGeom prst="rect">
            <a:avLst/>
          </a:prstGeom>
          <a:noFill/>
        </p:spPr>
        <p:txBody>
          <a:bodyPr wrap="square">
            <a:spAutoFit/>
          </a:bodyPr>
          <a:lstStyle/>
          <a:p>
            <a:pPr algn="l">
              <a:defRPr sz="2200" b="1">
                <a:solidFill>
                  <a:srgbClr val="FFD700"/>
                </a:solidFill>
                <a:latin typeface="Calibri"/>
              </a:defRPr>
            </a:pPr>
            <a:r>
              <a:t>The Degradation Pattern</a:t>
            </a:r>
          </a:p>
          <a:p>
            <a:pPr>
              <a:spcBef>
                <a:spcPts val="600"/>
              </a:spcBef>
              <a:defRPr sz="800" b="0">
                <a:solidFill>
                  <a:srgbClr val="FFFFFF"/>
                </a:solidFill>
                <a:latin typeface="Calibri"/>
              </a:defRPr>
            </a:pPr>
          </a:p>
          <a:p>
            <a:pPr>
              <a:spcBef>
                <a:spcPts val="800"/>
              </a:spcBef>
              <a:defRPr sz="1600" b="1">
                <a:solidFill>
                  <a:srgbClr val="00D2FF"/>
                </a:solidFill>
                <a:latin typeface="Calibri"/>
              </a:defRPr>
            </a:pPr>
            <a:r>
              <a:t>Method               R@100ep    R@150ep    Change</a:t>
            </a:r>
          </a:p>
          <a:p>
            <a:pPr>
              <a:spcBef>
                <a:spcPts val="200"/>
              </a:spcBef>
              <a:defRPr sz="1400" b="0">
                <a:solidFill>
                  <a:srgbClr val="CCCCCC"/>
                </a:solidFill>
                <a:latin typeface="Calibri"/>
              </a:defRPr>
            </a:pPr>
            <a:r>
              <a:t>-------------------------------------------------------</a:t>
            </a:r>
          </a:p>
          <a:p>
            <a:pPr>
              <a:spcBef>
                <a:spcPts val="400"/>
              </a:spcBef>
              <a:defRPr sz="1600" b="0">
                <a:solidFill>
                  <a:srgbClr val="00E676"/>
                </a:solidFill>
                <a:latin typeface="Calibri"/>
              </a:defRPr>
            </a:pPr>
            <a:r>
              <a:t>PPO baseline         0.791       0.850      +0.059  (keeps improving)</a:t>
            </a:r>
          </a:p>
          <a:p>
            <a:pPr>
              <a:spcBef>
                <a:spcPts val="400"/>
              </a:spcBef>
              <a:defRPr sz="1600" b="0">
                <a:solidFill>
                  <a:srgbClr val="FF4545"/>
                </a:solidFill>
                <a:latin typeface="Calibri"/>
              </a:defRPr>
            </a:pPr>
            <a:r>
              <a:t>Entropy              0.872       0.797      -0.075  (degrades!)</a:t>
            </a:r>
          </a:p>
          <a:p>
            <a:pPr>
              <a:spcBef>
                <a:spcPts val="400"/>
              </a:spcBef>
              <a:defRPr sz="1600" b="0">
                <a:solidFill>
                  <a:srgbClr val="FF4545"/>
                </a:solidFill>
                <a:latin typeface="Calibri"/>
              </a:defRPr>
            </a:pPr>
            <a:r>
              <a:t>|Advantage|          0.870       0.785      -0.085  (degrades!)</a:t>
            </a:r>
          </a:p>
          <a:p>
            <a:pPr>
              <a:spcBef>
                <a:spcPts val="400"/>
              </a:spcBef>
              <a:defRPr sz="1600" b="0">
                <a:solidFill>
                  <a:srgbClr val="FF4545"/>
                </a:solidFill>
                <a:latin typeface="Calibri"/>
              </a:defRPr>
            </a:pPr>
            <a:r>
              <a:t>Paper Hybrid         0.816       0.779      -0.037  (degrades!)</a:t>
            </a:r>
          </a:p>
        </p:txBody>
      </p:sp>
      <p:sp>
        <p:nvSpPr>
          <p:cNvPr id="5" name="TextBox 4"/>
          <p:cNvSpPr txBox="1"/>
          <p:nvPr/>
        </p:nvSpPr>
        <p:spPr>
          <a:xfrm>
            <a:off x="6400800" y="1188720"/>
            <a:ext cx="5303520" cy="2286000"/>
          </a:xfrm>
          <a:prstGeom prst="rect">
            <a:avLst/>
          </a:prstGeom>
          <a:noFill/>
        </p:spPr>
        <p:txBody>
          <a:bodyPr wrap="square">
            <a:spAutoFit/>
          </a:bodyPr>
          <a:lstStyle/>
          <a:p>
            <a:pPr algn="l">
              <a:defRPr sz="2000" b="1">
                <a:solidFill>
                  <a:srgbClr val="00E676"/>
                </a:solidFill>
                <a:latin typeface="Calibri"/>
              </a:defRPr>
            </a:pPr>
            <a:r>
              <a:t>At 100 episodes: importance wins!</a:t>
            </a:r>
          </a:p>
          <a:p>
            <a:pPr>
              <a:spcBef>
                <a:spcPts val="800"/>
              </a:spcBef>
              <a:defRPr sz="1800" b="0">
                <a:solidFill>
                  <a:srgbClr val="FFFFFF"/>
                </a:solidFill>
                <a:latin typeface="Calibri"/>
              </a:defRPr>
            </a:pPr>
            <a:r>
              <a:t>Entropy: 0.872 vs PPO: 0.791</a:t>
            </a:r>
          </a:p>
          <a:p>
            <a:pPr>
              <a:spcBef>
                <a:spcPts val="600"/>
              </a:spcBef>
              <a:defRPr sz="1000" b="0">
                <a:solidFill>
                  <a:srgbClr val="FFFFFF"/>
                </a:solidFill>
                <a:latin typeface="Calibri"/>
              </a:defRPr>
            </a:pPr>
          </a:p>
          <a:p>
            <a:pPr>
              <a:spcBef>
                <a:spcPts val="1200"/>
              </a:spcBef>
              <a:defRPr sz="2000" b="1">
                <a:solidFill>
                  <a:srgbClr val="FF4545"/>
                </a:solidFill>
                <a:latin typeface="Calibri"/>
              </a:defRPr>
            </a:pPr>
            <a:r>
              <a:t>At 150 episodes: importance loses.</a:t>
            </a:r>
          </a:p>
          <a:p>
            <a:pPr>
              <a:spcBef>
                <a:spcPts val="800"/>
              </a:spcBef>
              <a:defRPr sz="1800" b="0">
                <a:solidFill>
                  <a:srgbClr val="FFFFFF"/>
                </a:solidFill>
                <a:latin typeface="Calibri"/>
              </a:defRPr>
            </a:pPr>
            <a:r>
              <a:t>PPO: 0.850 vs Entropy: 0.797</a:t>
            </a:r>
          </a:p>
          <a:p>
            <a:pPr>
              <a:spcBef>
                <a:spcPts val="600"/>
              </a:spcBef>
              <a:defRPr sz="1000" b="0">
                <a:solidFill>
                  <a:srgbClr val="FFFFFF"/>
                </a:solidFill>
                <a:latin typeface="Calibri"/>
              </a:defRPr>
            </a:pPr>
          </a:p>
          <a:p>
            <a:pPr>
              <a:spcBef>
                <a:spcPts val="1200"/>
              </a:spcBef>
              <a:defRPr sz="2000" b="1">
                <a:solidFill>
                  <a:srgbClr val="FFD700"/>
                </a:solidFill>
                <a:latin typeface="Calibri"/>
              </a:defRPr>
            </a:pPr>
            <a:r>
              <a:t>Why does importance weighting degrade?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000" b="1">
                <a:solidFill>
                  <a:srgbClr val="00D2FF"/>
                </a:solidFill>
                <a:latin typeface="Calibri"/>
              </a:defRPr>
            </a:pPr>
            <a:r>
              <a:t>The Key Insight: Importance Weighting Has a Bias-Variance Tradeoff</a:t>
            </a:r>
          </a:p>
        </p:txBody>
      </p:sp>
      <p:sp>
        <p:nvSpPr>
          <p:cNvPr id="3" name="TextBox 2"/>
          <p:cNvSpPr txBox="1"/>
          <p:nvPr/>
        </p:nvSpPr>
        <p:spPr>
          <a:xfrm>
            <a:off x="457200" y="1188720"/>
            <a:ext cx="5486400" cy="5029200"/>
          </a:xfrm>
          <a:prstGeom prst="rect">
            <a:avLst/>
          </a:prstGeom>
          <a:noFill/>
        </p:spPr>
        <p:txBody>
          <a:bodyPr wrap="square">
            <a:spAutoFit/>
          </a:bodyPr>
          <a:lstStyle/>
          <a:p>
            <a:pPr algn="l">
              <a:defRPr sz="2200" b="1">
                <a:solidFill>
                  <a:srgbClr val="FFD700"/>
                </a:solidFill>
                <a:latin typeface="Calibri"/>
              </a:defRPr>
            </a:pPr>
            <a:r>
              <a:t>The Math:</a:t>
            </a:r>
          </a:p>
          <a:p>
            <a:pPr>
              <a:spcBef>
                <a:spcPts val="600"/>
              </a:spcBef>
              <a:defRPr sz="800" b="0">
                <a:solidFill>
                  <a:srgbClr val="FFFFFF"/>
                </a:solidFill>
                <a:latin typeface="Calibri"/>
              </a:defRPr>
            </a:pPr>
          </a:p>
          <a:p>
            <a:pPr>
              <a:spcBef>
                <a:spcPts val="800"/>
              </a:spcBef>
              <a:defRPr sz="1800" b="0">
                <a:solidFill>
                  <a:srgbClr val="CCCCCC"/>
                </a:solidFill>
                <a:latin typeface="Calibri"/>
              </a:defRPr>
            </a:pPr>
            <a:r>
              <a:t>True PPO gradient:</a:t>
            </a:r>
          </a:p>
          <a:p>
            <a:pPr>
              <a:spcBef>
                <a:spcPts val="400"/>
              </a:spcBef>
              <a:defRPr sz="1800" b="1">
                <a:solidFill>
                  <a:srgbClr val="FFFFFF"/>
                </a:solidFill>
                <a:latin typeface="Calibri"/>
              </a:defRPr>
            </a:pPr>
            <a:r>
              <a:t>  g = E_t[ grad(log pi) * A_t ]</a:t>
            </a:r>
          </a:p>
          <a:p>
            <a:pPr>
              <a:spcBef>
                <a:spcPts val="600"/>
              </a:spcBef>
              <a:defRPr sz="800" b="0">
                <a:solidFill>
                  <a:srgbClr val="FFFFFF"/>
                </a:solidFill>
                <a:latin typeface="Calibri"/>
              </a:defRPr>
            </a:pPr>
          </a:p>
          <a:p>
            <a:pPr>
              <a:spcBef>
                <a:spcPts val="800"/>
              </a:spcBef>
              <a:defRPr sz="1800" b="0">
                <a:solidFill>
                  <a:srgbClr val="CCCCCC"/>
                </a:solidFill>
                <a:latin typeface="Calibri"/>
              </a:defRPr>
            </a:pPr>
            <a:r>
              <a:t>Weighted gradient:</a:t>
            </a:r>
          </a:p>
          <a:p>
            <a:pPr>
              <a:spcBef>
                <a:spcPts val="400"/>
              </a:spcBef>
              <a:defRPr sz="1800" b="1">
                <a:solidFill>
                  <a:srgbClr val="FFFFFF"/>
                </a:solidFill>
                <a:latin typeface="Calibri"/>
              </a:defRPr>
            </a:pPr>
            <a:r>
              <a:t>  g_w = E_t[ w(t) * grad(log pi) * A_t ]</a:t>
            </a:r>
          </a:p>
          <a:p>
            <a:pPr>
              <a:spcBef>
                <a:spcPts val="600"/>
              </a:spcBef>
              <a:defRPr sz="800" b="0">
                <a:solidFill>
                  <a:srgbClr val="FFFFFF"/>
                </a:solidFill>
                <a:latin typeface="Calibri"/>
              </a:defRPr>
            </a:pPr>
          </a:p>
          <a:p>
            <a:pPr>
              <a:spcBef>
                <a:spcPts val="1200"/>
              </a:spcBef>
              <a:defRPr sz="2200" b="1">
                <a:solidFill>
                  <a:srgbClr val="FFD700"/>
                </a:solidFill>
                <a:latin typeface="Calibri"/>
              </a:defRPr>
            </a:pPr>
            <a:r>
              <a:t>Bias = E[g_w] - E[g] = Cov(w, f)</a:t>
            </a:r>
          </a:p>
          <a:p>
            <a:pPr>
              <a:spcBef>
                <a:spcPts val="600"/>
              </a:spcBef>
              <a:defRPr sz="800" b="0">
                <a:solidFill>
                  <a:srgbClr val="FFFFFF"/>
                </a:solidFill>
                <a:latin typeface="Calibri"/>
              </a:defRPr>
            </a:pPr>
          </a:p>
          <a:p>
            <a:pPr>
              <a:spcBef>
                <a:spcPts val="800"/>
              </a:spcBef>
              <a:defRPr sz="1700" b="0">
                <a:solidFill>
                  <a:srgbClr val="CCCCCC"/>
                </a:solidFill>
                <a:latin typeface="Calibri"/>
              </a:defRPr>
            </a:pPr>
            <a:r>
              <a:t>If w correlates with f (it does -</a:t>
            </a:r>
          </a:p>
          <a:p>
            <a:pPr>
              <a:spcBef>
                <a:spcPts val="200"/>
              </a:spcBef>
              <a:defRPr sz="1700" b="0">
                <a:solidFill>
                  <a:srgbClr val="CCCCCC"/>
                </a:solidFill>
                <a:latin typeface="Calibri"/>
              </a:defRPr>
            </a:pPr>
            <a:r>
              <a:t>that's WHY we weight!), bias != 0</a:t>
            </a:r>
          </a:p>
        </p:txBody>
      </p:sp>
      <p:sp>
        <p:nvSpPr>
          <p:cNvPr id="4" name="TextBox 3"/>
          <p:cNvSpPr txBox="1"/>
          <p:nvPr/>
        </p:nvSpPr>
        <p:spPr>
          <a:xfrm>
            <a:off x="6400800" y="1188720"/>
            <a:ext cx="5303520" cy="5029200"/>
          </a:xfrm>
          <a:prstGeom prst="rect">
            <a:avLst/>
          </a:prstGeom>
          <a:noFill/>
        </p:spPr>
        <p:txBody>
          <a:bodyPr wrap="square">
            <a:spAutoFit/>
          </a:bodyPr>
          <a:lstStyle/>
          <a:p>
            <a:pPr algn="l">
              <a:defRPr sz="2200" b="1">
                <a:solidFill>
                  <a:srgbClr val="FFD700"/>
                </a:solidFill>
                <a:latin typeface="Calibri"/>
              </a:defRPr>
            </a:pPr>
            <a:r>
              <a:t>The Tradeoff:</a:t>
            </a:r>
          </a:p>
          <a:p>
            <a:pPr>
              <a:spcBef>
                <a:spcPts val="600"/>
              </a:spcBef>
              <a:defRPr sz="800" b="0">
                <a:solidFill>
                  <a:srgbClr val="FFFFFF"/>
                </a:solidFill>
                <a:latin typeface="Calibri"/>
              </a:defRPr>
            </a:pPr>
          </a:p>
          <a:p>
            <a:pPr>
              <a:spcBef>
                <a:spcPts val="1200"/>
              </a:spcBef>
              <a:defRPr sz="2000" b="1">
                <a:solidFill>
                  <a:srgbClr val="00E676"/>
                </a:solidFill>
                <a:latin typeface="Calibri"/>
              </a:defRPr>
            </a:pPr>
            <a:r>
              <a:t>Variance: O(1/sqrt(N))</a:t>
            </a:r>
          </a:p>
          <a:p>
            <a:pPr>
              <a:spcBef>
                <a:spcPts val="400"/>
              </a:spcBef>
              <a:defRPr sz="1600" b="0">
                <a:solidFill>
                  <a:srgbClr val="CCCCCC"/>
                </a:solidFill>
                <a:latin typeface="Calibri"/>
              </a:defRPr>
            </a:pPr>
            <a:r>
              <a:t>  Decreases with more data</a:t>
            </a:r>
          </a:p>
          <a:p>
            <a:pPr>
              <a:spcBef>
                <a:spcPts val="400"/>
              </a:spcBef>
              <a:defRPr sz="1600" b="0">
                <a:solidFill>
                  <a:srgbClr val="00E676"/>
                </a:solidFill>
                <a:latin typeface="Calibri"/>
              </a:defRPr>
            </a:pPr>
            <a:r>
              <a:t>  Importance reduces this</a:t>
            </a:r>
          </a:p>
          <a:p>
            <a:pPr>
              <a:spcBef>
                <a:spcPts val="600"/>
              </a:spcBef>
              <a:defRPr sz="1200" b="0">
                <a:solidFill>
                  <a:srgbClr val="FFFFFF"/>
                </a:solidFill>
                <a:latin typeface="Calibri"/>
              </a:defRPr>
            </a:pPr>
          </a:p>
          <a:p>
            <a:pPr>
              <a:spcBef>
                <a:spcPts val="1200"/>
              </a:spcBef>
              <a:defRPr sz="2000" b="1">
                <a:solidFill>
                  <a:srgbClr val="FF4545"/>
                </a:solidFill>
                <a:latin typeface="Calibri"/>
              </a:defRPr>
            </a:pPr>
            <a:r>
              <a:t>Bias: Cov(w, f) -- persistent!</a:t>
            </a:r>
          </a:p>
          <a:p>
            <a:pPr>
              <a:spcBef>
                <a:spcPts val="400"/>
              </a:spcBef>
              <a:defRPr sz="1600" b="0">
                <a:solidFill>
                  <a:srgbClr val="CCCCCC"/>
                </a:solidFill>
                <a:latin typeface="Calibri"/>
              </a:defRPr>
            </a:pPr>
            <a:r>
              <a:t>  Does NOT average out</a:t>
            </a:r>
          </a:p>
          <a:p>
            <a:pPr>
              <a:spcBef>
                <a:spcPts val="400"/>
              </a:spcBef>
              <a:defRPr sz="1600" b="0">
                <a:solidFill>
                  <a:srgbClr val="FF4545"/>
                </a:solidFill>
                <a:latin typeface="Calibri"/>
              </a:defRPr>
            </a:pPr>
            <a:r>
              <a:t>  Accumulates step after step</a:t>
            </a:r>
          </a:p>
          <a:p>
            <a:pPr>
              <a:spcBef>
                <a:spcPts val="600"/>
              </a:spcBef>
              <a:defRPr sz="1600" b="0">
                <a:solidFill>
                  <a:srgbClr val="FFFFFF"/>
                </a:solidFill>
                <a:latin typeface="Calibri"/>
              </a:defRPr>
            </a:pPr>
          </a:p>
          <a:p>
            <a:pPr>
              <a:spcBef>
                <a:spcPts val="1200"/>
              </a:spcBef>
              <a:defRPr sz="2000" b="1">
                <a:solidFill>
                  <a:srgbClr val="00E676"/>
                </a:solidFill>
                <a:latin typeface="Calibri"/>
              </a:defRPr>
            </a:pPr>
            <a:r>
              <a:t>Early: Var &gt;&gt; Bias --&gt; weighting helps</a:t>
            </a:r>
          </a:p>
          <a:p>
            <a:pPr>
              <a:spcBef>
                <a:spcPts val="800"/>
              </a:spcBef>
              <a:defRPr sz="2000" b="1">
                <a:solidFill>
                  <a:srgbClr val="FF4545"/>
                </a:solidFill>
                <a:latin typeface="Calibri"/>
              </a:defRPr>
            </a:pPr>
            <a:r>
              <a:t>Late:  Bias &gt;&gt; Var --&gt; weighting hurts</a:t>
            </a:r>
          </a:p>
          <a:p>
            <a:pPr>
              <a:spcBef>
                <a:spcPts val="600"/>
              </a:spcBef>
              <a:defRPr sz="1200" b="0">
                <a:solidFill>
                  <a:srgbClr val="FFFFFF"/>
                </a:solidFill>
                <a:latin typeface="Calibri"/>
              </a:defRPr>
            </a:pPr>
          </a:p>
          <a:p>
            <a:pPr>
              <a:spcBef>
                <a:spcPts val="1200"/>
              </a:spcBef>
              <a:defRPr sz="2000" b="1">
                <a:solidFill>
                  <a:srgbClr val="FFD700"/>
                </a:solidFill>
                <a:latin typeface="Calibri"/>
              </a:defRPr>
            </a:pPr>
            <a:r>
              <a:t>This is why EVERY fixed method degrades!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000" b="1">
                <a:solidFill>
                  <a:srgbClr val="00D2FF"/>
                </a:solidFill>
                <a:latin typeface="Calibri"/>
              </a:defRPr>
            </a:pPr>
            <a:r>
              <a:t>Solution 1: AITI - Adaptive Intensity Token Importance</a:t>
            </a:r>
          </a:p>
        </p:txBody>
      </p:sp>
      <p:sp>
        <p:nvSpPr>
          <p:cNvPr id="3" name="TextBox 2"/>
          <p:cNvSpPr txBox="1"/>
          <p:nvPr/>
        </p:nvSpPr>
        <p:spPr>
          <a:xfrm>
            <a:off x="457200" y="1188720"/>
            <a:ext cx="6400800" cy="2743200"/>
          </a:xfrm>
          <a:prstGeom prst="rect">
            <a:avLst/>
          </a:prstGeom>
          <a:noFill/>
        </p:spPr>
        <p:txBody>
          <a:bodyPr wrap="square">
            <a:spAutoFit/>
          </a:bodyPr>
          <a:lstStyle/>
          <a:p>
            <a:pPr algn="l">
              <a:defRPr sz="2200" b="1">
                <a:solidFill>
                  <a:srgbClr val="FFFFFF"/>
                </a:solidFill>
                <a:latin typeface="Calibri"/>
              </a:defRPr>
            </a:pPr>
            <a:r>
              <a:t>The Fix: Decay importance intensity over training</a:t>
            </a:r>
          </a:p>
          <a:p>
            <a:pPr>
              <a:spcBef>
                <a:spcPts val="600"/>
              </a:spcBef>
              <a:defRPr sz="1000" b="0">
                <a:solidFill>
                  <a:srgbClr val="FFFFFF"/>
                </a:solidFill>
                <a:latin typeface="Calibri"/>
              </a:defRPr>
            </a:pPr>
          </a:p>
          <a:p>
            <a:pPr>
              <a:spcBef>
                <a:spcPts val="1200"/>
              </a:spcBef>
              <a:defRPr sz="2400" b="1">
                <a:solidFill>
                  <a:srgbClr val="FFD700"/>
                </a:solidFill>
                <a:latin typeface="Calibri"/>
              </a:defRPr>
            </a:pPr>
            <a:r>
              <a:t>w(t) = 1 + eps(step) * (s(t) - 1)</a:t>
            </a:r>
          </a:p>
          <a:p>
            <a:pPr>
              <a:spcBef>
                <a:spcPts val="600"/>
              </a:spcBef>
              <a:defRPr sz="800" b="0">
                <a:solidFill>
                  <a:srgbClr val="FFFFFF"/>
                </a:solidFill>
                <a:latin typeface="Calibri"/>
              </a:defRPr>
            </a:pPr>
          </a:p>
          <a:p>
            <a:pPr>
              <a:spcBef>
                <a:spcPts val="800"/>
              </a:spcBef>
              <a:defRPr sz="1700" b="0">
                <a:solidFill>
                  <a:srgbClr val="00E676"/>
                </a:solidFill>
                <a:latin typeface="Calibri"/>
              </a:defRPr>
            </a:pPr>
            <a:r>
              <a:t>eps = 1  --&gt;  full importance weighting (max variance reduction)</a:t>
            </a:r>
          </a:p>
          <a:p>
            <a:pPr>
              <a:spcBef>
                <a:spcPts val="400"/>
              </a:spcBef>
              <a:defRPr sz="1700" b="0">
                <a:solidFill>
                  <a:srgbClr val="00E676"/>
                </a:solidFill>
                <a:latin typeface="Calibri"/>
              </a:defRPr>
            </a:pPr>
            <a:r>
              <a:t>eps = 0  --&gt;  uniform PPO (zero bias)</a:t>
            </a:r>
          </a:p>
          <a:p>
            <a:pPr>
              <a:spcBef>
                <a:spcPts val="600"/>
              </a:spcBef>
              <a:defRPr sz="1000" b="0">
                <a:solidFill>
                  <a:srgbClr val="FFFFFF"/>
                </a:solidFill>
                <a:latin typeface="Calibri"/>
              </a:defRPr>
            </a:pPr>
          </a:p>
          <a:p>
            <a:pPr>
              <a:spcBef>
                <a:spcPts val="800"/>
              </a:spcBef>
              <a:defRPr sz="1800" b="0">
                <a:solidFill>
                  <a:srgbClr val="FFFFFF"/>
                </a:solidFill>
                <a:latin typeface="Calibri"/>
              </a:defRPr>
            </a:pPr>
            <a:r>
              <a:t>Schedule: eps decays linearly from 1 to 0</a:t>
            </a:r>
          </a:p>
          <a:p>
            <a:pPr>
              <a:spcBef>
                <a:spcPts val="600"/>
              </a:spcBef>
              <a:defRPr sz="800" b="0">
                <a:solidFill>
                  <a:srgbClr val="FFFFFF"/>
                </a:solidFill>
                <a:latin typeface="Calibri"/>
              </a:defRPr>
            </a:pPr>
          </a:p>
          <a:p>
            <a:pPr>
              <a:spcBef>
                <a:spcPts val="800"/>
              </a:spcBef>
              <a:defRPr sz="1800" b="0">
                <a:solidFill>
                  <a:srgbClr val="CCCCCC"/>
                </a:solidFill>
                <a:latin typeface="Calibri"/>
              </a:defRPr>
            </a:pPr>
            <a:r>
              <a:t>Like learning rate scheduling,</a:t>
            </a:r>
          </a:p>
          <a:p>
            <a:pPr>
              <a:spcBef>
                <a:spcPts val="400"/>
              </a:spcBef>
              <a:defRPr sz="1800" b="1">
                <a:solidFill>
                  <a:srgbClr val="00D2FF"/>
                </a:solidFill>
                <a:latin typeface="Calibri"/>
              </a:defRPr>
            </a:pPr>
            <a:r>
              <a:t>but for gradient QUALITY, not step size</a:t>
            </a:r>
          </a:p>
        </p:txBody>
      </p:sp>
      <p:sp>
        <p:nvSpPr>
          <p:cNvPr id="4" name="TextBox 3"/>
          <p:cNvSpPr txBox="1"/>
          <p:nvPr/>
        </p:nvSpPr>
        <p:spPr>
          <a:xfrm>
            <a:off x="7315200" y="1188720"/>
            <a:ext cx="4389120" cy="5029200"/>
          </a:xfrm>
          <a:prstGeom prst="rect">
            <a:avLst/>
          </a:prstGeom>
          <a:noFill/>
        </p:spPr>
        <p:txBody>
          <a:bodyPr wrap="square">
            <a:spAutoFit/>
          </a:bodyPr>
          <a:lstStyle/>
          <a:p>
            <a:pPr algn="l">
              <a:defRPr sz="2200" b="1">
                <a:solidFill>
                  <a:srgbClr val="FFD700"/>
                </a:solidFill>
                <a:latin typeface="Calibri"/>
              </a:defRPr>
            </a:pPr>
            <a:r>
              <a:t>Intuition:</a:t>
            </a:r>
          </a:p>
          <a:p>
            <a:pPr>
              <a:spcBef>
                <a:spcPts val="600"/>
              </a:spcBef>
              <a:defRPr sz="800" b="0">
                <a:solidFill>
                  <a:srgbClr val="FFFFFF"/>
                </a:solidFill>
                <a:latin typeface="Calibri"/>
              </a:defRPr>
            </a:pPr>
          </a:p>
          <a:p>
            <a:pPr>
              <a:spcBef>
                <a:spcPts val="1200"/>
              </a:spcBef>
              <a:defRPr sz="2000" b="1">
                <a:solidFill>
                  <a:srgbClr val="00E676"/>
                </a:solidFill>
                <a:latin typeface="Calibri"/>
              </a:defRPr>
            </a:pPr>
            <a:r>
              <a:t>Early training:</a:t>
            </a:r>
          </a:p>
          <a:p>
            <a:pPr>
              <a:spcBef>
                <a:spcPts val="400"/>
              </a:spcBef>
              <a:defRPr sz="1600" b="0">
                <a:solidFill>
                  <a:srgbClr val="CCCCCC"/>
                </a:solidFill>
                <a:latin typeface="Calibri"/>
              </a:defRPr>
            </a:pPr>
            <a:r>
              <a:t>  Model is far from optimal</a:t>
            </a:r>
          </a:p>
          <a:p>
            <a:pPr>
              <a:spcBef>
                <a:spcPts val="400"/>
              </a:spcBef>
              <a:defRPr sz="1600" b="0">
                <a:solidFill>
                  <a:srgbClr val="CCCCCC"/>
                </a:solidFill>
                <a:latin typeface="Calibri"/>
              </a:defRPr>
            </a:pPr>
            <a:r>
              <a:t>  Gradients are high-variance</a:t>
            </a:r>
          </a:p>
          <a:p>
            <a:pPr>
              <a:spcBef>
                <a:spcPts val="400"/>
              </a:spcBef>
              <a:defRPr sz="1600" b="1">
                <a:solidFill>
                  <a:srgbClr val="00E676"/>
                </a:solidFill>
                <a:latin typeface="Calibri"/>
              </a:defRPr>
            </a:pPr>
            <a:r>
              <a:t>  Importance: REDUCE VARIANCE</a:t>
            </a:r>
          </a:p>
          <a:p>
            <a:pPr>
              <a:spcBef>
                <a:spcPts val="600"/>
              </a:spcBef>
              <a:defRPr sz="1200" b="0">
                <a:solidFill>
                  <a:srgbClr val="FFFFFF"/>
                </a:solidFill>
                <a:latin typeface="Calibri"/>
              </a:defRPr>
            </a:pPr>
          </a:p>
          <a:p>
            <a:pPr>
              <a:spcBef>
                <a:spcPts val="1200"/>
              </a:spcBef>
              <a:defRPr sz="2000" b="1">
                <a:solidFill>
                  <a:srgbClr val="00D2FF"/>
                </a:solidFill>
                <a:latin typeface="Calibri"/>
              </a:defRPr>
            </a:pPr>
            <a:r>
              <a:t>Late training:</a:t>
            </a:r>
          </a:p>
          <a:p>
            <a:pPr>
              <a:spcBef>
                <a:spcPts val="400"/>
              </a:spcBef>
              <a:defRPr sz="1600" b="0">
                <a:solidFill>
                  <a:srgbClr val="CCCCCC"/>
                </a:solidFill>
                <a:latin typeface="Calibri"/>
              </a:defRPr>
            </a:pPr>
            <a:r>
              <a:t>  Model is nearly converged</a:t>
            </a:r>
          </a:p>
          <a:p>
            <a:pPr>
              <a:spcBef>
                <a:spcPts val="400"/>
              </a:spcBef>
              <a:defRPr sz="1600" b="0">
                <a:solidFill>
                  <a:srgbClr val="CCCCCC"/>
                </a:solidFill>
                <a:latin typeface="Calibri"/>
              </a:defRPr>
            </a:pPr>
            <a:r>
              <a:t>  Bias would push away from optimum</a:t>
            </a:r>
          </a:p>
          <a:p>
            <a:pPr>
              <a:spcBef>
                <a:spcPts val="400"/>
              </a:spcBef>
              <a:defRPr sz="1600" b="1">
                <a:solidFill>
                  <a:srgbClr val="00D2FF"/>
                </a:solidFill>
                <a:latin typeface="Calibri"/>
              </a:defRPr>
            </a:pPr>
            <a:r>
              <a:t>  Uniform: REDUCE BIAS</a:t>
            </a:r>
          </a:p>
          <a:p>
            <a:pPr>
              <a:spcBef>
                <a:spcPts val="600"/>
              </a:spcBef>
              <a:defRPr sz="1200" b="0">
                <a:solidFill>
                  <a:srgbClr val="FFFFFF"/>
                </a:solidFill>
                <a:latin typeface="Calibri"/>
              </a:defRPr>
            </a:pPr>
          </a:p>
          <a:p>
            <a:pPr>
              <a:spcBef>
                <a:spcPts val="1200"/>
              </a:spcBef>
              <a:defRPr sz="2200" b="1">
                <a:solidFill>
                  <a:srgbClr val="FFD700"/>
                </a:solidFill>
                <a:latin typeface="Calibri"/>
              </a:defRPr>
            </a:pPr>
            <a:r>
              <a:t>Best of both worlds!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000" b="1">
                <a:solidFill>
                  <a:srgbClr val="00D2FF"/>
                </a:solidFill>
                <a:latin typeface="Calibri"/>
              </a:defRPr>
            </a:pPr>
            <a:r>
              <a:t>AITI Results: First Pareto-Optimal Token Importance for PPO</a:t>
            </a:r>
          </a:p>
        </p:txBody>
      </p:sp>
      <p:sp>
        <p:nvSpPr>
          <p:cNvPr id="3" name="TextBox 2"/>
          <p:cNvSpPr txBox="1"/>
          <p:nvPr/>
        </p:nvSpPr>
        <p:spPr>
          <a:xfrm>
            <a:off x="457200" y="1188720"/>
            <a:ext cx="10972800" cy="4572000"/>
          </a:xfrm>
          <a:prstGeom prst="rect">
            <a:avLst/>
          </a:prstGeom>
          <a:noFill/>
        </p:spPr>
        <p:txBody>
          <a:bodyPr wrap="square">
            <a:spAutoFit/>
          </a:bodyPr>
          <a:lstStyle/>
          <a:p>
            <a:pPr algn="l">
              <a:defRPr sz="1800" b="1">
                <a:solidFill>
                  <a:srgbClr val="00D2FF"/>
                </a:solidFill>
                <a:latin typeface="Calibri"/>
              </a:defRPr>
            </a:pPr>
            <a:r>
              <a:t>Method                    Reward(Q4)  KL(Q4)    KL-Eff   Pareto?</a:t>
            </a:r>
          </a:p>
          <a:p>
            <a:pPr>
              <a:spcBef>
                <a:spcPts val="200"/>
              </a:spcBef>
              <a:defRPr sz="1400" b="0">
                <a:solidFill>
                  <a:srgbClr val="CCCCCC"/>
                </a:solidFill>
                <a:latin typeface="Calibri"/>
              </a:defRPr>
            </a:pPr>
            <a:r>
              <a:t>--------------------------------------------------------------------------</a:t>
            </a:r>
          </a:p>
          <a:p>
            <a:pPr>
              <a:spcBef>
                <a:spcPts val="600"/>
              </a:spcBef>
              <a:defRPr sz="1800" b="1">
                <a:solidFill>
                  <a:srgbClr val="00E676"/>
                </a:solidFill>
                <a:latin typeface="Calibri"/>
              </a:defRPr>
            </a:pPr>
            <a:r>
              <a:t>AITI-Advantage (linear)   0.855       0.016     54.1     YES &lt;&lt;&lt;</a:t>
            </a:r>
          </a:p>
          <a:p>
            <a:pPr>
              <a:spcBef>
                <a:spcPts val="600"/>
              </a:spcBef>
              <a:defRPr sz="1800" b="0">
                <a:solidFill>
                  <a:srgbClr val="FFFFFF"/>
                </a:solidFill>
                <a:latin typeface="Calibri"/>
              </a:defRPr>
            </a:pPr>
            <a:r>
              <a:t>AITI-AdaptivePhase        0.853       0.047     18.1     no</a:t>
            </a:r>
          </a:p>
          <a:p>
            <a:pPr>
              <a:spcBef>
                <a:spcPts val="600"/>
              </a:spcBef>
              <a:defRPr sz="1800" b="0">
                <a:solidFill>
                  <a:srgbClr val="FFFFFF"/>
                </a:solidFill>
                <a:latin typeface="Calibri"/>
              </a:defRPr>
            </a:pPr>
            <a:r>
              <a:t>AITI-Entropy (quad)       0.826       0.059     13.9     no</a:t>
            </a:r>
          </a:p>
          <a:p>
            <a:pPr>
              <a:spcBef>
                <a:spcPts val="600"/>
              </a:spcBef>
              <a:defRPr sz="1800" b="0">
                <a:solidFill>
                  <a:srgbClr val="FF4545"/>
                </a:solidFill>
                <a:latin typeface="Calibri"/>
              </a:defRPr>
            </a:pPr>
            <a:r>
              <a:t>PPO baseline              0.818       0.040     20.4     DOMINATED</a:t>
            </a:r>
          </a:p>
          <a:p>
            <a:pPr>
              <a:spcBef>
                <a:spcPts val="600"/>
              </a:spcBef>
              <a:defRPr sz="1800" b="0">
                <a:solidFill>
                  <a:srgbClr val="CCCCCC"/>
                </a:solidFill>
                <a:latin typeface="Calibri"/>
              </a:defRPr>
            </a:pPr>
            <a:r>
              <a:t>Entropy (no decay)        0.815      -0.611      1.3     no</a:t>
            </a:r>
          </a:p>
          <a:p>
            <a:pPr>
              <a:spcBef>
                <a:spcPts val="600"/>
              </a:spcBef>
              <a:defRPr sz="1400" b="0">
                <a:solidFill>
                  <a:srgbClr val="FFFFFF"/>
                </a:solidFill>
                <a:latin typeface="Calibri"/>
              </a:defRPr>
            </a:pPr>
          </a:p>
          <a:p>
            <a:pPr>
              <a:spcBef>
                <a:spcPts val="1600"/>
              </a:spcBef>
              <a:defRPr sz="2200" b="1">
                <a:solidFill>
                  <a:srgbClr val="FFD700"/>
                </a:solidFill>
                <a:latin typeface="Calibri"/>
              </a:defRPr>
            </a:pPr>
            <a:r>
              <a:t>AITI-Advantage vs PPO baseline:</a:t>
            </a:r>
          </a:p>
          <a:p>
            <a:pPr>
              <a:spcBef>
                <a:spcPts val="600"/>
              </a:spcBef>
              <a:defRPr sz="600" b="0">
                <a:solidFill>
                  <a:srgbClr val="FFFFFF"/>
                </a:solidFill>
                <a:latin typeface="Calibri"/>
              </a:defRPr>
            </a:pPr>
          </a:p>
          <a:p>
            <a:pPr>
              <a:spcBef>
                <a:spcPts val="800"/>
              </a:spcBef>
              <a:defRPr sz="2000" b="1">
                <a:solidFill>
                  <a:srgbClr val="00E676"/>
                </a:solidFill>
                <a:latin typeface="Calibri"/>
              </a:defRPr>
            </a:pPr>
            <a:r>
              <a:t>  Reward:        +4.5%   (0.855 vs 0.818)</a:t>
            </a:r>
          </a:p>
          <a:p>
            <a:pPr>
              <a:spcBef>
                <a:spcPts val="600"/>
              </a:spcBef>
              <a:defRPr sz="2000" b="1">
                <a:solidFill>
                  <a:srgbClr val="00E676"/>
                </a:solidFill>
                <a:latin typeface="Calibri"/>
              </a:defRPr>
            </a:pPr>
            <a:r>
              <a:t>  KL divergence: 2.5x lower  (0.016 vs 0.040)</a:t>
            </a:r>
          </a:p>
          <a:p>
            <a:pPr>
              <a:spcBef>
                <a:spcPts val="600"/>
              </a:spcBef>
              <a:defRPr sz="2000" b="1">
                <a:solidFill>
                  <a:srgbClr val="00E676"/>
                </a:solidFill>
                <a:latin typeface="Calibri"/>
              </a:defRPr>
            </a:pPr>
            <a:r>
              <a:t>  KL-Efficiency: 2.7x higher (54.1 vs 20.4)</a:t>
            </a:r>
          </a:p>
          <a:p>
            <a:pPr>
              <a:spcBef>
                <a:spcPts val="600"/>
              </a:spcBef>
              <a:defRPr sz="1000" b="0">
                <a:solidFill>
                  <a:srgbClr val="FFFFFF"/>
                </a:solidFill>
                <a:latin typeface="Calibri"/>
              </a:defRPr>
            </a:pPr>
          </a:p>
          <a:p>
            <a:pPr>
              <a:spcBef>
                <a:spcPts val="800"/>
              </a:spcBef>
              <a:defRPr sz="1800" b="0">
                <a:solidFill>
                  <a:srgbClr val="FFD700"/>
                </a:solidFill>
                <a:latin typeface="Calibri"/>
              </a:defRPr>
            </a:pPr>
            <a:r>
              <a:t>  Better reward AND closer to reference model -- strictly dominates PPO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000" b="1">
                <a:solidFill>
                  <a:srgbClr val="00D2FF"/>
                </a:solidFill>
                <a:latin typeface="Calibri"/>
              </a:defRPr>
            </a:pPr>
            <a:r>
              <a:t>Solution 2: MOAI - MSE-Optimal Adaptive Intensity</a:t>
            </a:r>
          </a:p>
        </p:txBody>
      </p:sp>
      <p:sp>
        <p:nvSpPr>
          <p:cNvPr id="3" name="TextBox 2"/>
          <p:cNvSpPr txBox="1"/>
          <p:nvPr/>
        </p:nvSpPr>
        <p:spPr>
          <a:xfrm>
            <a:off x="457200" y="1188720"/>
            <a:ext cx="5943600" cy="5029200"/>
          </a:xfrm>
          <a:prstGeom prst="rect">
            <a:avLst/>
          </a:prstGeom>
          <a:noFill/>
        </p:spPr>
        <p:txBody>
          <a:bodyPr wrap="square">
            <a:spAutoFit/>
          </a:bodyPr>
          <a:lstStyle/>
          <a:p>
            <a:pPr algn="l">
              <a:defRPr sz="2200" b="1">
                <a:solidFill>
                  <a:srgbClr val="FFFFFF"/>
                </a:solidFill>
                <a:latin typeface="Calibri"/>
              </a:defRPr>
            </a:pPr>
            <a:r>
              <a:t>Can we derive epsilon from data?</a:t>
            </a:r>
          </a:p>
          <a:p>
            <a:pPr>
              <a:spcBef>
                <a:spcPts val="600"/>
              </a:spcBef>
              <a:defRPr sz="800" b="0">
                <a:solidFill>
                  <a:srgbClr val="FFFFFF"/>
                </a:solidFill>
                <a:latin typeface="Calibri"/>
              </a:defRPr>
            </a:pPr>
          </a:p>
          <a:p>
            <a:pPr>
              <a:spcBef>
                <a:spcPts val="800"/>
              </a:spcBef>
              <a:defRPr sz="1800" b="0">
                <a:solidFill>
                  <a:srgbClr val="CCCCCC"/>
                </a:solidFill>
                <a:latin typeface="Calibri"/>
              </a:defRPr>
            </a:pPr>
            <a:r>
              <a:t>For w = 1 + eps*(s - 1):</a:t>
            </a:r>
          </a:p>
          <a:p>
            <a:pPr>
              <a:spcBef>
                <a:spcPts val="600"/>
              </a:spcBef>
              <a:defRPr sz="600" b="0">
                <a:solidFill>
                  <a:srgbClr val="FFFFFF"/>
                </a:solidFill>
                <a:latin typeface="Calibri"/>
              </a:defRPr>
            </a:pPr>
          </a:p>
          <a:p>
            <a:pPr>
              <a:spcBef>
                <a:spcPts val="800"/>
              </a:spcBef>
              <a:defRPr sz="1800" b="0">
                <a:solidFill>
                  <a:srgbClr val="FFFFFF"/>
                </a:solidFill>
                <a:latin typeface="Calibri"/>
              </a:defRPr>
            </a:pPr>
            <a:r>
              <a:t>MSE(eps) = Bias^2 + Variance</a:t>
            </a:r>
          </a:p>
          <a:p>
            <a:pPr>
              <a:spcBef>
                <a:spcPts val="400"/>
              </a:spcBef>
              <a:defRPr sz="1600" b="0">
                <a:solidFill>
                  <a:srgbClr val="CCCCCC"/>
                </a:solidFill>
                <a:latin typeface="Calibri"/>
              </a:defRPr>
            </a:pPr>
            <a:r>
              <a:t>         = eps^2 * C^2 + (1/T)(sigma^2 + 2*eps*rho + eps^2*tau^2)</a:t>
            </a:r>
          </a:p>
          <a:p>
            <a:pPr>
              <a:spcBef>
                <a:spcPts val="600"/>
              </a:spcBef>
              <a:defRPr sz="800" b="0">
                <a:solidFill>
                  <a:srgbClr val="FFFFFF"/>
                </a:solidFill>
                <a:latin typeface="Calibri"/>
              </a:defRPr>
            </a:pPr>
          </a:p>
          <a:p>
            <a:pPr>
              <a:spcBef>
                <a:spcPts val="800"/>
              </a:spcBef>
              <a:defRPr sz="1800" b="0">
                <a:solidFill>
                  <a:srgbClr val="FFFFFF"/>
                </a:solidFill>
                <a:latin typeface="Calibri"/>
              </a:defRPr>
            </a:pPr>
            <a:r>
              <a:t>Setting dMSE/deps = 0:</a:t>
            </a:r>
          </a:p>
          <a:p>
            <a:pPr>
              <a:spcBef>
                <a:spcPts val="600"/>
              </a:spcBef>
              <a:defRPr sz="800" b="0">
                <a:solidFill>
                  <a:srgbClr val="FFFFFF"/>
                </a:solidFill>
                <a:latin typeface="Calibri"/>
              </a:defRPr>
            </a:pPr>
          </a:p>
          <a:p>
            <a:pPr>
              <a:spcBef>
                <a:spcPts val="800"/>
              </a:spcBef>
              <a:defRPr sz="2400" b="1">
                <a:solidFill>
                  <a:srgbClr val="FFD700"/>
                </a:solidFill>
                <a:latin typeface="Calibri"/>
              </a:defRPr>
            </a:pPr>
            <a:r>
              <a:t>  eps* = -rho / (T * C^2 + tau^2)</a:t>
            </a:r>
          </a:p>
          <a:p>
            <a:pPr>
              <a:spcBef>
                <a:spcPts val="600"/>
              </a:spcBef>
              <a:defRPr sz="1000" b="0">
                <a:solidFill>
                  <a:srgbClr val="FFFFFF"/>
                </a:solidFill>
                <a:latin typeface="Calibri"/>
              </a:defRPr>
            </a:pPr>
          </a:p>
          <a:p>
            <a:pPr>
              <a:spcBef>
                <a:spcPts val="800"/>
              </a:spcBef>
              <a:defRPr sz="1700" b="0">
                <a:solidFill>
                  <a:srgbClr val="CCCCCC"/>
                </a:solidFill>
                <a:latin typeface="Calibri"/>
              </a:defRPr>
            </a:pPr>
            <a:r>
              <a:t>where:</a:t>
            </a:r>
          </a:p>
          <a:p>
            <a:pPr>
              <a:spcBef>
                <a:spcPts val="400"/>
              </a:spcBef>
              <a:defRPr sz="1500" b="0">
                <a:solidFill>
                  <a:srgbClr val="CCCCCC"/>
                </a:solidFill>
                <a:latin typeface="Calibri"/>
              </a:defRPr>
            </a:pPr>
            <a:r>
              <a:t>  C   = Cov(s, f)        -- importance-loss correlation</a:t>
            </a:r>
          </a:p>
          <a:p>
            <a:pPr>
              <a:spcBef>
                <a:spcPts val="400"/>
              </a:spcBef>
              <a:defRPr sz="1500" b="0">
                <a:solidFill>
                  <a:srgbClr val="CCCCCC"/>
                </a:solidFill>
                <a:latin typeface="Calibri"/>
              </a:defRPr>
            </a:pPr>
            <a:r>
              <a:t>  rho = Cov(f, (s-1)*f)  -- variance-importance coupling</a:t>
            </a:r>
          </a:p>
          <a:p>
            <a:pPr>
              <a:spcBef>
                <a:spcPts val="400"/>
              </a:spcBef>
              <a:defRPr sz="1500" b="0">
                <a:solidFill>
                  <a:srgbClr val="CCCCCC"/>
                </a:solidFill>
                <a:latin typeface="Calibri"/>
              </a:defRPr>
            </a:pPr>
            <a:r>
              <a:t>  tau = Var((s-1)*f)      -- modulated loss variance</a:t>
            </a:r>
          </a:p>
          <a:p>
            <a:pPr>
              <a:spcBef>
                <a:spcPts val="400"/>
              </a:spcBef>
              <a:defRPr sz="1500" b="0">
                <a:solidFill>
                  <a:srgbClr val="CCCCCC"/>
                </a:solidFill>
                <a:latin typeface="Calibri"/>
              </a:defRPr>
            </a:pPr>
            <a:r>
              <a:t>  T   = token count       -- sequence length</a:t>
            </a:r>
          </a:p>
        </p:txBody>
      </p:sp>
      <p:sp>
        <p:nvSpPr>
          <p:cNvPr id="4" name="TextBox 3"/>
          <p:cNvSpPr txBox="1"/>
          <p:nvPr/>
        </p:nvSpPr>
        <p:spPr>
          <a:xfrm>
            <a:off x="6858000" y="1188720"/>
            <a:ext cx="4846320" cy="5029200"/>
          </a:xfrm>
          <a:prstGeom prst="rect">
            <a:avLst/>
          </a:prstGeom>
          <a:noFill/>
        </p:spPr>
        <p:txBody>
          <a:bodyPr wrap="square">
            <a:spAutoFit/>
          </a:bodyPr>
          <a:lstStyle/>
          <a:p>
            <a:pPr algn="l">
              <a:defRPr sz="2200" b="1">
                <a:solidFill>
                  <a:srgbClr val="FFD700"/>
                </a:solidFill>
                <a:latin typeface="Calibri"/>
              </a:defRPr>
            </a:pPr>
            <a:r>
              <a:t>Three Predictions:</a:t>
            </a:r>
          </a:p>
          <a:p>
            <a:pPr>
              <a:spcBef>
                <a:spcPts val="600"/>
              </a:spcBef>
              <a:defRPr sz="1000" b="0">
                <a:solidFill>
                  <a:srgbClr val="FFFFFF"/>
                </a:solidFill>
                <a:latin typeface="Calibri"/>
              </a:defRPr>
            </a:pPr>
          </a:p>
          <a:p>
            <a:pPr>
              <a:spcBef>
                <a:spcPts val="1200"/>
              </a:spcBef>
              <a:defRPr sz="2000" b="1">
                <a:solidFill>
                  <a:srgbClr val="00E676"/>
                </a:solidFill>
                <a:latin typeface="Calibri"/>
              </a:defRPr>
            </a:pPr>
            <a:r>
              <a:t>1. Sequence length effect</a:t>
            </a:r>
          </a:p>
          <a:p>
            <a:pPr>
              <a:spcBef>
                <a:spcPts val="400"/>
              </a:spcBef>
              <a:defRPr sz="1700" b="0">
                <a:solidFill>
                  <a:srgbClr val="CCCCCC"/>
                </a:solidFill>
                <a:latin typeface="Calibri"/>
              </a:defRPr>
            </a:pPr>
            <a:r>
              <a:t>   As T -&gt; inf, eps* -&gt; 0</a:t>
            </a:r>
          </a:p>
          <a:p>
            <a:pPr>
              <a:spcBef>
                <a:spcPts val="400"/>
              </a:spcBef>
              <a:defRPr sz="1700" b="0">
                <a:solidFill>
                  <a:srgbClr val="CCCCCC"/>
                </a:solidFill>
                <a:latin typeface="Calibri"/>
              </a:defRPr>
            </a:pPr>
            <a:r>
              <a:t>   Longer sequences need LESS</a:t>
            </a:r>
          </a:p>
          <a:p>
            <a:pPr>
              <a:spcBef>
                <a:spcPts val="400"/>
              </a:spcBef>
              <a:defRPr sz="1700" b="0">
                <a:solidFill>
                  <a:srgbClr val="CCCCCC"/>
                </a:solidFill>
                <a:latin typeface="Calibri"/>
              </a:defRPr>
            </a:pPr>
            <a:r>
              <a:t>   importance weighting</a:t>
            </a:r>
          </a:p>
          <a:p>
            <a:pPr>
              <a:spcBef>
                <a:spcPts val="600"/>
              </a:spcBef>
              <a:defRPr sz="1000" b="0">
                <a:solidFill>
                  <a:srgbClr val="FFFFFF"/>
                </a:solidFill>
                <a:latin typeface="Calibri"/>
              </a:defRPr>
            </a:pPr>
          </a:p>
          <a:p>
            <a:pPr>
              <a:spcBef>
                <a:spcPts val="1200"/>
              </a:spcBef>
              <a:defRPr sz="2000" b="1">
                <a:solidFill>
                  <a:srgbClr val="00E676"/>
                </a:solidFill>
                <a:latin typeface="Calibri"/>
              </a:defRPr>
            </a:pPr>
            <a:r>
              <a:t>2. Natural decay</a:t>
            </a:r>
          </a:p>
          <a:p>
            <a:pPr>
              <a:spcBef>
                <a:spcPts val="400"/>
              </a:spcBef>
              <a:defRPr sz="1700" b="0">
                <a:solidFill>
                  <a:srgbClr val="CCCCCC"/>
                </a:solidFill>
                <a:latin typeface="Calibri"/>
              </a:defRPr>
            </a:pPr>
            <a:r>
              <a:t>   As C grows during training,</a:t>
            </a:r>
          </a:p>
          <a:p>
            <a:pPr>
              <a:spcBef>
                <a:spcPts val="400"/>
              </a:spcBef>
              <a:defRPr sz="1700" b="0">
                <a:solidFill>
                  <a:srgbClr val="CCCCCC"/>
                </a:solidFill>
                <a:latin typeface="Calibri"/>
              </a:defRPr>
            </a:pPr>
            <a:r>
              <a:t>   eps* decreases automatically</a:t>
            </a:r>
          </a:p>
          <a:p>
            <a:pPr>
              <a:spcBef>
                <a:spcPts val="600"/>
              </a:spcBef>
              <a:defRPr sz="1000" b="0">
                <a:solidFill>
                  <a:srgbClr val="FFFFFF"/>
                </a:solidFill>
                <a:latin typeface="Calibri"/>
              </a:defRPr>
            </a:pPr>
          </a:p>
          <a:p>
            <a:pPr>
              <a:spcBef>
                <a:spcPts val="1200"/>
              </a:spcBef>
              <a:defRPr sz="2000" b="1">
                <a:solidFill>
                  <a:srgbClr val="00E676"/>
                </a:solidFill>
                <a:latin typeface="Calibri"/>
              </a:defRPr>
            </a:pPr>
            <a:r>
              <a:t>3. When weighting helps</a:t>
            </a:r>
          </a:p>
          <a:p>
            <a:pPr>
              <a:spcBef>
                <a:spcPts val="400"/>
              </a:spcBef>
              <a:defRPr sz="1700" b="0">
                <a:solidFill>
                  <a:srgbClr val="CCCCCC"/>
                </a:solidFill>
                <a:latin typeface="Calibri"/>
              </a:defRPr>
            </a:pPr>
            <a:r>
              <a:t>   eps* &gt; 0 iff rho &lt; 0</a:t>
            </a:r>
          </a:p>
          <a:p>
            <a:pPr>
              <a:spcBef>
                <a:spcPts val="400"/>
              </a:spcBef>
              <a:defRPr sz="1700" b="0">
                <a:solidFill>
                  <a:srgbClr val="CCCCCC"/>
                </a:solidFill>
                <a:latin typeface="Calibri"/>
              </a:defRPr>
            </a:pPr>
            <a:r>
              <a:t>   (advantage weighting satisfies this)</a:t>
            </a:r>
          </a:p>
          <a:p>
            <a:pPr>
              <a:spcBef>
                <a:spcPts val="600"/>
              </a:spcBef>
              <a:defRPr sz="1000" b="0">
                <a:solidFill>
                  <a:srgbClr val="FFFFFF"/>
                </a:solidFill>
                <a:latin typeface="Calibri"/>
              </a:defRPr>
            </a:pPr>
          </a:p>
          <a:p>
            <a:pPr>
              <a:spcBef>
                <a:spcPts val="1200"/>
              </a:spcBef>
              <a:defRPr sz="2000" b="1">
                <a:solidFill>
                  <a:srgbClr val="00D2FF"/>
                </a:solidFill>
                <a:latin typeface="Calibri"/>
              </a:defRPr>
            </a:pPr>
            <a:r>
              <a:t>This is NEW in the IS literature.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000" b="1">
                <a:solidFill>
                  <a:srgbClr val="00D2FF"/>
                </a:solidFill>
                <a:latin typeface="Calibri"/>
              </a:defRPr>
            </a:pPr>
            <a:r>
              <a:t>The Theory-Practice Gap and the Monotone Fix</a:t>
            </a:r>
          </a:p>
        </p:txBody>
      </p:sp>
      <p:sp>
        <p:nvSpPr>
          <p:cNvPr id="3" name="TextBox 2"/>
          <p:cNvSpPr txBox="1"/>
          <p:nvPr/>
        </p:nvSpPr>
        <p:spPr>
          <a:xfrm>
            <a:off x="457200" y="1188720"/>
            <a:ext cx="5486400" cy="5029200"/>
          </a:xfrm>
          <a:prstGeom prst="rect">
            <a:avLst/>
          </a:prstGeom>
          <a:noFill/>
        </p:spPr>
        <p:txBody>
          <a:bodyPr wrap="square">
            <a:spAutoFit/>
          </a:bodyPr>
          <a:lstStyle/>
          <a:p>
            <a:pPr algn="l">
              <a:defRPr sz="2200" b="1">
                <a:solidFill>
                  <a:srgbClr val="FF4545"/>
                </a:solidFill>
                <a:latin typeface="Calibri"/>
              </a:defRPr>
            </a:pPr>
            <a:r>
              <a:t>Problem: Free MOAI oscillates</a:t>
            </a:r>
          </a:p>
          <a:p>
            <a:pPr>
              <a:spcBef>
                <a:spcPts val="600"/>
              </a:spcBef>
              <a:defRPr sz="800" b="0">
                <a:solidFill>
                  <a:srgbClr val="FFFFFF"/>
                </a:solidFill>
                <a:latin typeface="Calibri"/>
              </a:defRPr>
            </a:pPr>
          </a:p>
          <a:p>
            <a:pPr>
              <a:spcBef>
                <a:spcPts val="800"/>
              </a:spcBef>
              <a:defRPr sz="1800" b="0">
                <a:solidFill>
                  <a:srgbClr val="FFFFFF"/>
                </a:solidFill>
                <a:latin typeface="Calibri"/>
              </a:defRPr>
            </a:pPr>
            <a:r>
              <a:t>eps trajectory (free, ema=0.80):</a:t>
            </a:r>
          </a:p>
          <a:p>
            <a:pPr>
              <a:spcBef>
                <a:spcPts val="600"/>
              </a:spcBef>
              <a:defRPr sz="1700" b="0">
                <a:solidFill>
                  <a:srgbClr val="FF4545"/>
                </a:solidFill>
                <a:latin typeface="Calibri"/>
              </a:defRPr>
            </a:pPr>
            <a:r>
              <a:t>  1.0 -&gt; 0.54 -&gt; 1.00 -&gt; 1.00 -&gt; 0.94 -&gt; 1.00</a:t>
            </a:r>
          </a:p>
          <a:p>
            <a:pPr>
              <a:spcBef>
                <a:spcPts val="600"/>
              </a:spcBef>
              <a:defRPr sz="800" b="0">
                <a:solidFill>
                  <a:srgbClr val="FFFFFF"/>
                </a:solidFill>
                <a:latin typeface="Calibri"/>
              </a:defRPr>
            </a:pPr>
          </a:p>
          <a:p>
            <a:pPr>
              <a:spcBef>
                <a:spcPts val="800"/>
              </a:spcBef>
              <a:defRPr sz="1800" b="0">
                <a:solidFill>
                  <a:srgbClr val="FFD700"/>
                </a:solidFill>
                <a:latin typeface="Calibri"/>
              </a:defRPr>
            </a:pPr>
            <a:r>
              <a:t>WHY: batch statistics are noisy</a:t>
            </a:r>
          </a:p>
          <a:p>
            <a:pPr>
              <a:spcBef>
                <a:spcPts val="400"/>
              </a:spcBef>
              <a:defRPr sz="1600" b="0">
                <a:solidFill>
                  <a:srgbClr val="CCCCCC"/>
                </a:solidFill>
                <a:latin typeface="Calibri"/>
              </a:defRPr>
            </a:pPr>
            <a:r>
              <a:t>  (batch size = 4 sequences)</a:t>
            </a:r>
          </a:p>
          <a:p>
            <a:pPr>
              <a:spcBef>
                <a:spcPts val="400"/>
              </a:spcBef>
              <a:defRPr sz="1600" b="0">
                <a:solidFill>
                  <a:srgbClr val="CCCCCC"/>
                </a:solidFill>
                <a:latin typeface="Calibri"/>
              </a:defRPr>
            </a:pPr>
            <a:r>
              <a:t>  C, rho, tau^2 fluctuate wildly</a:t>
            </a:r>
          </a:p>
          <a:p>
            <a:pPr>
              <a:spcBef>
                <a:spcPts val="400"/>
              </a:spcBef>
              <a:defRPr sz="1600" b="0">
                <a:solidFill>
                  <a:srgbClr val="CCCCCC"/>
                </a:solidFill>
                <a:latin typeface="Calibri"/>
              </a:defRPr>
            </a:pPr>
            <a:r>
              <a:t>  Formula amplifies the noise</a:t>
            </a:r>
          </a:p>
          <a:p>
            <a:pPr>
              <a:spcBef>
                <a:spcPts val="600"/>
              </a:spcBef>
              <a:defRPr sz="1200" b="0">
                <a:solidFill>
                  <a:srgbClr val="FFFFFF"/>
                </a:solidFill>
                <a:latin typeface="Calibri"/>
              </a:defRPr>
            </a:pPr>
          </a:p>
          <a:p>
            <a:pPr>
              <a:spcBef>
                <a:spcPts val="800"/>
              </a:spcBef>
              <a:defRPr sz="1800" b="1">
                <a:solidFill>
                  <a:srgbClr val="FF4545"/>
                </a:solidFill>
                <a:latin typeface="Calibri"/>
              </a:defRPr>
            </a:pPr>
            <a:r>
              <a:t>Result: R=0.770, KL=0.097</a:t>
            </a:r>
          </a:p>
          <a:p>
            <a:pPr>
              <a:spcBef>
                <a:spcPts val="400"/>
              </a:spcBef>
              <a:defRPr sz="1600" b="0">
                <a:solidFill>
                  <a:srgbClr val="FF4545"/>
                </a:solidFill>
                <a:latin typeface="Calibri"/>
              </a:defRPr>
            </a:pPr>
            <a:r>
              <a:t>  (worse than PPO baseline!)</a:t>
            </a:r>
          </a:p>
        </p:txBody>
      </p:sp>
      <p:sp>
        <p:nvSpPr>
          <p:cNvPr id="4" name="TextBox 3"/>
          <p:cNvSpPr txBox="1"/>
          <p:nvPr/>
        </p:nvSpPr>
        <p:spPr>
          <a:xfrm>
            <a:off x="6400800" y="1188720"/>
            <a:ext cx="5303520" cy="5029200"/>
          </a:xfrm>
          <a:prstGeom prst="rect">
            <a:avLst/>
          </a:prstGeom>
          <a:noFill/>
        </p:spPr>
        <p:txBody>
          <a:bodyPr wrap="square">
            <a:spAutoFit/>
          </a:bodyPr>
          <a:lstStyle/>
          <a:p>
            <a:pPr algn="l">
              <a:defRPr sz="2200" b="1">
                <a:solidFill>
                  <a:srgbClr val="00E676"/>
                </a:solidFill>
                <a:latin typeface="Calibri"/>
              </a:defRPr>
            </a:pPr>
            <a:r>
              <a:t>Fix: Monotone constraint</a:t>
            </a:r>
          </a:p>
          <a:p>
            <a:pPr>
              <a:spcBef>
                <a:spcPts val="600"/>
              </a:spcBef>
              <a:defRPr sz="800" b="0">
                <a:solidFill>
                  <a:srgbClr val="FFFFFF"/>
                </a:solidFill>
                <a:latin typeface="Calibri"/>
              </a:defRPr>
            </a:pPr>
          </a:p>
          <a:p>
            <a:pPr>
              <a:spcBef>
                <a:spcPts val="800"/>
              </a:spcBef>
              <a:defRPr sz="2000" b="1">
                <a:solidFill>
                  <a:srgbClr val="FFD700"/>
                </a:solidFill>
                <a:latin typeface="Calibri"/>
              </a:defRPr>
            </a:pPr>
            <a:r>
              <a:t>eps_k = min(eps*_k,  eps_{k-1})</a:t>
            </a:r>
          </a:p>
          <a:p>
            <a:pPr>
              <a:spcBef>
                <a:spcPts val="600"/>
              </a:spcBef>
              <a:defRPr sz="600" b="0">
                <a:solidFill>
                  <a:srgbClr val="FFFFFF"/>
                </a:solidFill>
                <a:latin typeface="Calibri"/>
              </a:defRPr>
            </a:pPr>
          </a:p>
          <a:p>
            <a:pPr>
              <a:spcBef>
                <a:spcPts val="800"/>
              </a:spcBef>
              <a:defRPr sz="1800" b="0">
                <a:solidFill>
                  <a:srgbClr val="FFFFFF"/>
                </a:solidFill>
                <a:latin typeface="Calibri"/>
              </a:defRPr>
            </a:pPr>
            <a:r>
              <a:t>eps can only DECREASE over time.</a:t>
            </a:r>
          </a:p>
          <a:p>
            <a:pPr>
              <a:spcBef>
                <a:spcPts val="600"/>
              </a:spcBef>
              <a:defRPr sz="1000" b="0">
                <a:solidFill>
                  <a:srgbClr val="FFFFFF"/>
                </a:solidFill>
                <a:latin typeface="Calibri"/>
              </a:defRPr>
            </a:pPr>
          </a:p>
          <a:p>
            <a:pPr>
              <a:spcBef>
                <a:spcPts val="800"/>
              </a:spcBef>
              <a:defRPr sz="1800" b="0">
                <a:solidFill>
                  <a:srgbClr val="FFFFFF"/>
                </a:solidFill>
                <a:latin typeface="Calibri"/>
              </a:defRPr>
            </a:pPr>
            <a:r>
              <a:t>eps trajectory (mono, ema=0.80):</a:t>
            </a:r>
          </a:p>
          <a:p>
            <a:pPr>
              <a:spcBef>
                <a:spcPts val="600"/>
              </a:spcBef>
              <a:defRPr sz="1700" b="0">
                <a:solidFill>
                  <a:srgbClr val="00E676"/>
                </a:solidFill>
                <a:latin typeface="Calibri"/>
              </a:defRPr>
            </a:pPr>
            <a:r>
              <a:t>  1.0 -&gt; 0.43 -&gt; 0.24 -&gt; 0.24 -&gt; 0.24</a:t>
            </a:r>
          </a:p>
          <a:p>
            <a:pPr>
              <a:spcBef>
                <a:spcPts val="600"/>
              </a:spcBef>
              <a:defRPr sz="800" b="0">
                <a:solidFill>
                  <a:srgbClr val="FFFFFF"/>
                </a:solidFill>
                <a:latin typeface="Calibri"/>
              </a:defRPr>
            </a:pPr>
          </a:p>
          <a:p>
            <a:pPr>
              <a:spcBef>
                <a:spcPts val="1200"/>
              </a:spcBef>
              <a:defRPr sz="2000" b="1">
                <a:solidFill>
                  <a:srgbClr val="00D2FF"/>
                </a:solidFill>
                <a:latin typeface="Calibri"/>
              </a:defRPr>
            </a:pPr>
            <a:r>
              <a:t>"Find and Lock" strategy:</a:t>
            </a:r>
          </a:p>
          <a:p>
            <a:pPr>
              <a:spcBef>
                <a:spcPts val="400"/>
              </a:spcBef>
              <a:defRPr sz="1600" b="0">
                <a:solidFill>
                  <a:srgbClr val="CCCCCC"/>
                </a:solidFill>
                <a:latin typeface="Calibri"/>
              </a:defRPr>
            </a:pPr>
            <a:r>
              <a:t>  1. Rapid early decay (data-adaptive)</a:t>
            </a:r>
          </a:p>
          <a:p>
            <a:pPr>
              <a:spcBef>
                <a:spcPts val="400"/>
              </a:spcBef>
              <a:defRPr sz="1600" b="0">
                <a:solidFill>
                  <a:srgbClr val="CCCCCC"/>
                </a:solidFill>
                <a:latin typeface="Calibri"/>
              </a:defRPr>
            </a:pPr>
            <a:r>
              <a:t>  2. Lock at optimal level (~0.24)</a:t>
            </a:r>
          </a:p>
          <a:p>
            <a:pPr>
              <a:spcBef>
                <a:spcPts val="400"/>
              </a:spcBef>
              <a:defRPr sz="1600" b="0">
                <a:solidFill>
                  <a:srgbClr val="CCCCCC"/>
                </a:solidFill>
                <a:latin typeface="Calibri"/>
              </a:defRPr>
            </a:pPr>
            <a:r>
              <a:t>  3. Stay there (stability)</a:t>
            </a:r>
          </a:p>
          <a:p>
            <a:pPr>
              <a:spcBef>
                <a:spcPts val="600"/>
              </a:spcBef>
              <a:defRPr sz="1000" b="0">
                <a:solidFill>
                  <a:srgbClr val="FFFFFF"/>
                </a:solidFill>
                <a:latin typeface="Calibri"/>
              </a:defRPr>
            </a:pPr>
          </a:p>
          <a:p>
            <a:pPr>
              <a:spcBef>
                <a:spcPts val="800"/>
              </a:spcBef>
              <a:defRPr sz="1800" b="1">
                <a:solidFill>
                  <a:srgbClr val="00E676"/>
                </a:solidFill>
                <a:latin typeface="Calibri"/>
              </a:defRPr>
            </a:pPr>
            <a:r>
              <a:t>Result: R=0.880, KL=0.056</a:t>
            </a:r>
          </a:p>
          <a:p>
            <a:pPr>
              <a:spcBef>
                <a:spcPts val="400"/>
              </a:spcBef>
              <a:defRPr sz="1600" b="0">
                <a:solidFill>
                  <a:srgbClr val="00E676"/>
                </a:solidFill>
                <a:latin typeface="Calibri"/>
              </a:defRPr>
            </a:pPr>
            <a:r>
              <a:t>  (+14% reward vs free MOAI!)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200" b="1">
                <a:solidFill>
                  <a:srgbClr val="00D2FF"/>
                </a:solidFill>
                <a:latin typeface="Calibri"/>
              </a:defRPr>
            </a:pPr>
            <a:r>
              <a:t>Final Results: The Pareto Frontier</a:t>
            </a:r>
          </a:p>
        </p:txBody>
      </p:sp>
      <p:sp>
        <p:nvSpPr>
          <p:cNvPr id="3" name="TextBox 2"/>
          <p:cNvSpPr txBox="1"/>
          <p:nvPr/>
        </p:nvSpPr>
        <p:spPr>
          <a:xfrm>
            <a:off x="457200" y="1188720"/>
            <a:ext cx="10972800" cy="4572000"/>
          </a:xfrm>
          <a:prstGeom prst="rect">
            <a:avLst/>
          </a:prstGeom>
          <a:noFill/>
        </p:spPr>
        <p:txBody>
          <a:bodyPr wrap="square">
            <a:spAutoFit/>
          </a:bodyPr>
          <a:lstStyle/>
          <a:p>
            <a:pPr algn="l">
              <a:defRPr sz="1800" b="1">
                <a:solidFill>
                  <a:srgbClr val="00D2FF"/>
                </a:solidFill>
                <a:latin typeface="Calibri"/>
              </a:defRPr>
            </a:pPr>
            <a:r>
              <a:t>Method                     Reward(Q4)  KL(Q4)    Pareto?    eps locks at</a:t>
            </a:r>
          </a:p>
          <a:p>
            <a:pPr>
              <a:spcBef>
                <a:spcPts val="200"/>
              </a:spcBef>
              <a:defRPr sz="1400" b="0">
                <a:solidFill>
                  <a:srgbClr val="CCCCCC"/>
                </a:solidFill>
                <a:latin typeface="Calibri"/>
              </a:defRPr>
            </a:pPr>
            <a:r>
              <a:t>-------------------------------------------------------------------------------</a:t>
            </a:r>
          </a:p>
          <a:p>
            <a:pPr>
              <a:spcBef>
                <a:spcPts val="600"/>
              </a:spcBef>
              <a:defRPr sz="1800" b="1">
                <a:solidFill>
                  <a:srgbClr val="00E676"/>
                </a:solidFill>
                <a:latin typeface="Calibri"/>
              </a:defRPr>
            </a:pPr>
            <a:r>
              <a:t>MOAI-Adv mono (ema=0.80)   0.880       0.056     YES &lt;&lt;&lt;    0.24</a:t>
            </a:r>
          </a:p>
          <a:p>
            <a:pPr>
              <a:spcBef>
                <a:spcPts val="600"/>
              </a:spcBef>
              <a:defRPr sz="1800" b="1">
                <a:solidFill>
                  <a:srgbClr val="00E676"/>
                </a:solidFill>
                <a:latin typeface="Calibri"/>
              </a:defRPr>
            </a:pPr>
            <a:r>
              <a:t>AITI-Advantage (linear)    0.874       0.031     YES        -&gt; 0</a:t>
            </a:r>
          </a:p>
          <a:p>
            <a:pPr>
              <a:spcBef>
                <a:spcPts val="600"/>
              </a:spcBef>
              <a:defRPr sz="1800" b="0">
                <a:solidFill>
                  <a:srgbClr val="FFFFFF"/>
                </a:solidFill>
                <a:latin typeface="Calibri"/>
              </a:defRPr>
            </a:pPr>
            <a:r>
              <a:t>PPO baseline               0.859       0.028     YES        1.0</a:t>
            </a:r>
          </a:p>
          <a:p>
            <a:pPr>
              <a:spcBef>
                <a:spcPts val="600"/>
              </a:spcBef>
              <a:defRPr sz="1800" b="0">
                <a:solidFill>
                  <a:srgbClr val="CCCCCC"/>
                </a:solidFill>
                <a:latin typeface="Calibri"/>
              </a:defRPr>
            </a:pPr>
            <a:r>
              <a:t>MOAI-Adv mono (ema=0.90)   0.866       0.059     no         0.49</a:t>
            </a:r>
          </a:p>
          <a:p>
            <a:pPr>
              <a:spcBef>
                <a:spcPts val="600"/>
              </a:spcBef>
              <a:defRPr sz="1800" b="0">
                <a:solidFill>
                  <a:srgbClr val="FF4545"/>
                </a:solidFill>
                <a:latin typeface="Calibri"/>
              </a:defRPr>
            </a:pPr>
            <a:r>
              <a:t>MOAI-Adv free (ema=0.80)   0.770       0.097     no         oscillating</a:t>
            </a:r>
          </a:p>
          <a:p>
            <a:pPr>
              <a:spcBef>
                <a:spcPts val="600"/>
              </a:spcBef>
              <a:defRPr sz="1200" b="0">
                <a:solidFill>
                  <a:srgbClr val="FFFFFF"/>
                </a:solidFill>
                <a:latin typeface="Calibri"/>
              </a:defRPr>
            </a:pPr>
          </a:p>
          <a:p>
            <a:pPr>
              <a:spcBef>
                <a:spcPts val="1600"/>
              </a:spcBef>
              <a:defRPr sz="2200" b="1">
                <a:solidFill>
                  <a:srgbClr val="FFD700"/>
                </a:solidFill>
                <a:latin typeface="Calibri"/>
              </a:defRPr>
            </a:pPr>
            <a:r>
              <a:t>Surprise Finding:</a:t>
            </a:r>
          </a:p>
          <a:p>
            <a:pPr>
              <a:spcBef>
                <a:spcPts val="600"/>
              </a:spcBef>
              <a:defRPr sz="600" b="0">
                <a:solidFill>
                  <a:srgbClr val="FFFFFF"/>
                </a:solidFill>
                <a:latin typeface="Calibri"/>
              </a:defRPr>
            </a:pPr>
          </a:p>
          <a:p>
            <a:pPr>
              <a:spcBef>
                <a:spcPts val="800"/>
              </a:spcBef>
              <a:defRPr sz="1800" b="0">
                <a:solidFill>
                  <a:srgbClr val="CCCCCC"/>
                </a:solidFill>
                <a:latin typeface="Calibri"/>
              </a:defRPr>
            </a:pPr>
            <a:r>
              <a:t>  AITI assumes optimal eps = 0 (decay to uniform)</a:t>
            </a:r>
          </a:p>
          <a:p>
            <a:pPr>
              <a:spcBef>
                <a:spcPts val="600"/>
              </a:spcBef>
              <a:defRPr sz="1800" b="1">
                <a:solidFill>
                  <a:srgbClr val="00E676"/>
                </a:solidFill>
                <a:latin typeface="Calibri"/>
              </a:defRPr>
            </a:pPr>
            <a:r>
              <a:t>  MOAI discovers optimal eps ~ 0.24 (permanent partial weighting)</a:t>
            </a:r>
          </a:p>
          <a:p>
            <a:pPr>
              <a:spcBef>
                <a:spcPts val="600"/>
              </a:spcBef>
              <a:defRPr sz="800" b="0">
                <a:solidFill>
                  <a:srgbClr val="FFFFFF"/>
                </a:solidFill>
                <a:latin typeface="Calibri"/>
              </a:defRPr>
            </a:pPr>
          </a:p>
          <a:p>
            <a:pPr>
              <a:spcBef>
                <a:spcPts val="800"/>
              </a:spcBef>
              <a:defRPr sz="1800" b="0">
                <a:solidFill>
                  <a:srgbClr val="FFD700"/>
                </a:solidFill>
                <a:latin typeface="Calibri"/>
              </a:defRPr>
            </a:pPr>
            <a:r>
              <a:t>  Some importance weighting is ALWAYS beneficial -- contradicts AITI's assumption!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200" b="1">
                <a:solidFill>
                  <a:srgbClr val="00D2FF"/>
                </a:solidFill>
                <a:latin typeface="Calibri"/>
              </a:defRPr>
            </a:pPr>
            <a:r>
              <a:t>Key Findings</a:t>
            </a:r>
          </a:p>
        </p:txBody>
      </p:sp>
      <p:sp>
        <p:nvSpPr>
          <p:cNvPr id="3" name="TextBox 2"/>
          <p:cNvSpPr txBox="1"/>
          <p:nvPr/>
        </p:nvSpPr>
        <p:spPr>
          <a:xfrm>
            <a:off x="731520" y="1188720"/>
            <a:ext cx="457200" cy="457200"/>
          </a:xfrm>
          <a:prstGeom prst="rect">
            <a:avLst/>
          </a:prstGeom>
          <a:noFill/>
        </p:spPr>
        <p:txBody>
          <a:bodyPr wrap="square">
            <a:spAutoFit/>
          </a:bodyPr>
          <a:lstStyle/>
          <a:p>
            <a:pPr algn="l">
              <a:defRPr sz="2800" b="1">
                <a:solidFill>
                  <a:srgbClr val="FFD700"/>
                </a:solidFill>
                <a:latin typeface="Calibri"/>
              </a:defRPr>
            </a:pPr>
            <a:r>
              <a:t>1</a:t>
            </a:r>
          </a:p>
        </p:txBody>
      </p:sp>
      <p:sp>
        <p:nvSpPr>
          <p:cNvPr id="4" name="TextBox 3"/>
          <p:cNvSpPr txBox="1"/>
          <p:nvPr/>
        </p:nvSpPr>
        <p:spPr>
          <a:xfrm>
            <a:off x="1371600" y="1188720"/>
            <a:ext cx="9601200" cy="365760"/>
          </a:xfrm>
          <a:prstGeom prst="rect">
            <a:avLst/>
          </a:prstGeom>
          <a:noFill/>
        </p:spPr>
        <p:txBody>
          <a:bodyPr wrap="square">
            <a:spAutoFit/>
          </a:bodyPr>
          <a:lstStyle/>
          <a:p>
            <a:pPr algn="l">
              <a:defRPr sz="2000" b="1">
                <a:solidFill>
                  <a:srgbClr val="FFFFFF"/>
                </a:solidFill>
                <a:latin typeface="Calibri"/>
              </a:defRPr>
            </a:pPr>
            <a:r>
              <a:t>Importance weighting has a bias-variance tradeoff in PPO</a:t>
            </a:r>
          </a:p>
        </p:txBody>
      </p:sp>
      <p:sp>
        <p:nvSpPr>
          <p:cNvPr id="5" name="TextBox 4"/>
          <p:cNvSpPr txBox="1"/>
          <p:nvPr/>
        </p:nvSpPr>
        <p:spPr>
          <a:xfrm>
            <a:off x="1371600" y="1554480"/>
            <a:ext cx="9601200" cy="365760"/>
          </a:xfrm>
          <a:prstGeom prst="rect">
            <a:avLst/>
          </a:prstGeom>
          <a:noFill/>
        </p:spPr>
        <p:txBody>
          <a:bodyPr wrap="square">
            <a:spAutoFit/>
          </a:bodyPr>
          <a:lstStyle/>
          <a:p>
            <a:pPr algn="l">
              <a:defRPr sz="1600" b="0">
                <a:solidFill>
                  <a:srgbClr val="CCCCCC"/>
                </a:solidFill>
                <a:latin typeface="Calibri"/>
              </a:defRPr>
            </a:pPr>
            <a:r>
              <a:t>Bias = Cov(w, f) accumulates; variance reduction is temporary</a:t>
            </a:r>
          </a:p>
        </p:txBody>
      </p:sp>
      <p:sp>
        <p:nvSpPr>
          <p:cNvPr id="6" name="TextBox 5"/>
          <p:cNvSpPr txBox="1"/>
          <p:nvPr/>
        </p:nvSpPr>
        <p:spPr>
          <a:xfrm>
            <a:off x="731520" y="2194560"/>
            <a:ext cx="457200" cy="457200"/>
          </a:xfrm>
          <a:prstGeom prst="rect">
            <a:avLst/>
          </a:prstGeom>
          <a:noFill/>
        </p:spPr>
        <p:txBody>
          <a:bodyPr wrap="square">
            <a:spAutoFit/>
          </a:bodyPr>
          <a:lstStyle/>
          <a:p>
            <a:pPr algn="l">
              <a:defRPr sz="2800" b="1">
                <a:solidFill>
                  <a:srgbClr val="00E676"/>
                </a:solidFill>
                <a:latin typeface="Calibri"/>
              </a:defRPr>
            </a:pPr>
            <a:r>
              <a:t>2</a:t>
            </a:r>
          </a:p>
        </p:txBody>
      </p:sp>
      <p:sp>
        <p:nvSpPr>
          <p:cNvPr id="7" name="TextBox 6"/>
          <p:cNvSpPr txBox="1"/>
          <p:nvPr/>
        </p:nvSpPr>
        <p:spPr>
          <a:xfrm>
            <a:off x="1371600" y="2194560"/>
            <a:ext cx="9601200" cy="365760"/>
          </a:xfrm>
          <a:prstGeom prst="rect">
            <a:avLst/>
          </a:prstGeom>
          <a:noFill/>
        </p:spPr>
        <p:txBody>
          <a:bodyPr wrap="square">
            <a:spAutoFit/>
          </a:bodyPr>
          <a:lstStyle/>
          <a:p>
            <a:pPr algn="l">
              <a:defRPr sz="2000" b="1">
                <a:solidFill>
                  <a:srgbClr val="FFFFFF"/>
                </a:solidFill>
                <a:latin typeface="Calibri"/>
              </a:defRPr>
            </a:pPr>
            <a:r>
              <a:t>Decaying intensity solves it (AITI)</a:t>
            </a:r>
          </a:p>
        </p:txBody>
      </p:sp>
      <p:sp>
        <p:nvSpPr>
          <p:cNvPr id="8" name="TextBox 7"/>
          <p:cNvSpPr txBox="1"/>
          <p:nvPr/>
        </p:nvSpPr>
        <p:spPr>
          <a:xfrm>
            <a:off x="1371600" y="2560320"/>
            <a:ext cx="9601200" cy="365760"/>
          </a:xfrm>
          <a:prstGeom prst="rect">
            <a:avLst/>
          </a:prstGeom>
          <a:noFill/>
        </p:spPr>
        <p:txBody>
          <a:bodyPr wrap="square">
            <a:spAutoFit/>
          </a:bodyPr>
          <a:lstStyle/>
          <a:p>
            <a:pPr algn="l">
              <a:defRPr sz="1600" b="0">
                <a:solidFill>
                  <a:srgbClr val="CCCCCC"/>
                </a:solidFill>
                <a:latin typeface="Calibri"/>
              </a:defRPr>
            </a:pPr>
            <a:r>
              <a:t>+4.5% reward, 2.5x lower KL vs uniform PPO</a:t>
            </a:r>
          </a:p>
        </p:txBody>
      </p:sp>
      <p:sp>
        <p:nvSpPr>
          <p:cNvPr id="9" name="TextBox 8"/>
          <p:cNvSpPr txBox="1"/>
          <p:nvPr/>
        </p:nvSpPr>
        <p:spPr>
          <a:xfrm>
            <a:off x="731520" y="3200400"/>
            <a:ext cx="457200" cy="457200"/>
          </a:xfrm>
          <a:prstGeom prst="rect">
            <a:avLst/>
          </a:prstGeom>
          <a:noFill/>
        </p:spPr>
        <p:txBody>
          <a:bodyPr wrap="square">
            <a:spAutoFit/>
          </a:bodyPr>
          <a:lstStyle/>
          <a:p>
            <a:pPr algn="l">
              <a:defRPr sz="2800" b="1">
                <a:solidFill>
                  <a:srgbClr val="00D2FF"/>
                </a:solidFill>
                <a:latin typeface="Calibri"/>
              </a:defRPr>
            </a:pPr>
            <a:r>
              <a:t>3</a:t>
            </a:r>
          </a:p>
        </p:txBody>
      </p:sp>
      <p:sp>
        <p:nvSpPr>
          <p:cNvPr id="10" name="TextBox 9"/>
          <p:cNvSpPr txBox="1"/>
          <p:nvPr/>
        </p:nvSpPr>
        <p:spPr>
          <a:xfrm>
            <a:off x="1371600" y="3200400"/>
            <a:ext cx="9601200" cy="365760"/>
          </a:xfrm>
          <a:prstGeom prst="rect">
            <a:avLst/>
          </a:prstGeom>
          <a:noFill/>
        </p:spPr>
        <p:txBody>
          <a:bodyPr wrap="square">
            <a:spAutoFit/>
          </a:bodyPr>
          <a:lstStyle/>
          <a:p>
            <a:pPr algn="l">
              <a:defRPr sz="2000" b="1">
                <a:solidFill>
                  <a:srgbClr val="FFFFFF"/>
                </a:solidFill>
                <a:latin typeface="Calibri"/>
              </a:defRPr>
            </a:pPr>
            <a:r>
              <a:t>MSE-optimal intensity has a closed form (MOAI)</a:t>
            </a:r>
          </a:p>
        </p:txBody>
      </p:sp>
      <p:sp>
        <p:nvSpPr>
          <p:cNvPr id="11" name="TextBox 10"/>
          <p:cNvSpPr txBox="1"/>
          <p:nvPr/>
        </p:nvSpPr>
        <p:spPr>
          <a:xfrm>
            <a:off x="1371600" y="3566160"/>
            <a:ext cx="9601200" cy="365760"/>
          </a:xfrm>
          <a:prstGeom prst="rect">
            <a:avLst/>
          </a:prstGeom>
          <a:noFill/>
        </p:spPr>
        <p:txBody>
          <a:bodyPr wrap="square">
            <a:spAutoFit/>
          </a:bodyPr>
          <a:lstStyle/>
          <a:p>
            <a:pPr algn="l">
              <a:defRPr sz="1600" b="0">
                <a:solidFill>
                  <a:srgbClr val="CCCCCC"/>
                </a:solidFill>
                <a:latin typeface="Calibri"/>
              </a:defRPr>
            </a:pPr>
            <a:r>
              <a:t>eps* = -rho / (T*C^2 + tau^2)  -- depends on sequence length T</a:t>
            </a:r>
          </a:p>
        </p:txBody>
      </p:sp>
      <p:sp>
        <p:nvSpPr>
          <p:cNvPr id="12" name="TextBox 11"/>
          <p:cNvSpPr txBox="1"/>
          <p:nvPr/>
        </p:nvSpPr>
        <p:spPr>
          <a:xfrm>
            <a:off x="731520" y="4206240"/>
            <a:ext cx="457200" cy="457200"/>
          </a:xfrm>
          <a:prstGeom prst="rect">
            <a:avLst/>
          </a:prstGeom>
          <a:noFill/>
        </p:spPr>
        <p:txBody>
          <a:bodyPr wrap="square">
            <a:spAutoFit/>
          </a:bodyPr>
          <a:lstStyle/>
          <a:p>
            <a:pPr algn="l">
              <a:defRPr sz="2800" b="1">
                <a:solidFill>
                  <a:srgbClr val="FF8C00"/>
                </a:solidFill>
                <a:latin typeface="Calibri"/>
              </a:defRPr>
            </a:pPr>
            <a:r>
              <a:t>4</a:t>
            </a:r>
          </a:p>
        </p:txBody>
      </p:sp>
      <p:sp>
        <p:nvSpPr>
          <p:cNvPr id="13" name="TextBox 12"/>
          <p:cNvSpPr txBox="1"/>
          <p:nvPr/>
        </p:nvSpPr>
        <p:spPr>
          <a:xfrm>
            <a:off x="1371600" y="4206240"/>
            <a:ext cx="9601200" cy="365760"/>
          </a:xfrm>
          <a:prstGeom prst="rect">
            <a:avLst/>
          </a:prstGeom>
          <a:noFill/>
        </p:spPr>
        <p:txBody>
          <a:bodyPr wrap="square">
            <a:spAutoFit/>
          </a:bodyPr>
          <a:lstStyle/>
          <a:p>
            <a:pPr algn="l">
              <a:defRPr sz="2000" b="1">
                <a:solidFill>
                  <a:srgbClr val="FFFFFF"/>
                </a:solidFill>
                <a:latin typeface="Calibri"/>
              </a:defRPr>
            </a:pPr>
            <a:r>
              <a:t>Per-step optimality != trajectory optimality</a:t>
            </a:r>
          </a:p>
        </p:txBody>
      </p:sp>
      <p:sp>
        <p:nvSpPr>
          <p:cNvPr id="14" name="TextBox 13"/>
          <p:cNvSpPr txBox="1"/>
          <p:nvPr/>
        </p:nvSpPr>
        <p:spPr>
          <a:xfrm>
            <a:off x="1371600" y="4572000"/>
            <a:ext cx="9601200" cy="365760"/>
          </a:xfrm>
          <a:prstGeom prst="rect">
            <a:avLst/>
          </a:prstGeom>
          <a:noFill/>
        </p:spPr>
        <p:txBody>
          <a:bodyPr wrap="square">
            <a:spAutoFit/>
          </a:bodyPr>
          <a:lstStyle/>
          <a:p>
            <a:pPr algn="l">
              <a:defRPr sz="1600" b="0">
                <a:solidFill>
                  <a:srgbClr val="CCCCCC"/>
                </a:solidFill>
                <a:latin typeface="Calibri"/>
              </a:defRPr>
            </a:pPr>
            <a:r>
              <a:t>Free MOAI oscillates; monotone constraint is essential</a:t>
            </a:r>
          </a:p>
        </p:txBody>
      </p:sp>
      <p:sp>
        <p:nvSpPr>
          <p:cNvPr id="15" name="TextBox 14"/>
          <p:cNvSpPr txBox="1"/>
          <p:nvPr/>
        </p:nvSpPr>
        <p:spPr>
          <a:xfrm>
            <a:off x="731520" y="5212080"/>
            <a:ext cx="457200" cy="457200"/>
          </a:xfrm>
          <a:prstGeom prst="rect">
            <a:avLst/>
          </a:prstGeom>
          <a:noFill/>
        </p:spPr>
        <p:txBody>
          <a:bodyPr wrap="square">
            <a:spAutoFit/>
          </a:bodyPr>
          <a:lstStyle/>
          <a:p>
            <a:pPr algn="l">
              <a:defRPr sz="2800" b="1">
                <a:solidFill>
                  <a:srgbClr val="00E676"/>
                </a:solidFill>
                <a:latin typeface="Calibri"/>
              </a:defRPr>
            </a:pPr>
            <a:r>
              <a:t>5</a:t>
            </a:r>
          </a:p>
        </p:txBody>
      </p:sp>
      <p:sp>
        <p:nvSpPr>
          <p:cNvPr id="16" name="TextBox 15"/>
          <p:cNvSpPr txBox="1"/>
          <p:nvPr/>
        </p:nvSpPr>
        <p:spPr>
          <a:xfrm>
            <a:off x="1371600" y="5212080"/>
            <a:ext cx="9601200" cy="365760"/>
          </a:xfrm>
          <a:prstGeom prst="rect">
            <a:avLst/>
          </a:prstGeom>
          <a:noFill/>
        </p:spPr>
        <p:txBody>
          <a:bodyPr wrap="square">
            <a:spAutoFit/>
          </a:bodyPr>
          <a:lstStyle/>
          <a:p>
            <a:pPr algn="l">
              <a:defRPr sz="2000" b="1">
                <a:solidFill>
                  <a:srgbClr val="FFFFFF"/>
                </a:solidFill>
                <a:latin typeface="Calibri"/>
              </a:defRPr>
            </a:pPr>
            <a:r>
              <a:t>Optimal epsilon &gt; 0 (the surprise)</a:t>
            </a:r>
          </a:p>
        </p:txBody>
      </p:sp>
      <p:sp>
        <p:nvSpPr>
          <p:cNvPr id="17" name="TextBox 16"/>
          <p:cNvSpPr txBox="1"/>
          <p:nvPr/>
        </p:nvSpPr>
        <p:spPr>
          <a:xfrm>
            <a:off x="1371600" y="5577840"/>
            <a:ext cx="9601200" cy="365760"/>
          </a:xfrm>
          <a:prstGeom prst="rect">
            <a:avLst/>
          </a:prstGeom>
          <a:noFill/>
        </p:spPr>
        <p:txBody>
          <a:bodyPr wrap="square">
            <a:spAutoFit/>
          </a:bodyPr>
          <a:lstStyle/>
          <a:p>
            <a:pPr algn="l">
              <a:defRPr sz="1600" b="0">
                <a:solidFill>
                  <a:srgbClr val="CCCCCC"/>
                </a:solidFill>
                <a:latin typeface="Calibri"/>
              </a:defRPr>
            </a:pPr>
            <a:r>
              <a:t>Permanent partial weighting beats full decay to uniform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defRPr sz="3200" b="1">
                <a:solidFill>
                  <a:srgbClr val="00D2FF"/>
                </a:solidFill>
                <a:latin typeface="Calibri"/>
              </a:defRPr>
            </a:pPr>
            <a:r>
              <a:t>Implications and Future Directions</a:t>
            </a:r>
          </a:p>
        </p:txBody>
      </p:sp>
      <p:sp>
        <p:nvSpPr>
          <p:cNvPr id="3" name="TextBox 2"/>
          <p:cNvSpPr txBox="1"/>
          <p:nvPr/>
        </p:nvSpPr>
        <p:spPr>
          <a:xfrm>
            <a:off x="457200" y="1188720"/>
            <a:ext cx="5486400" cy="5029200"/>
          </a:xfrm>
          <a:prstGeom prst="rect">
            <a:avLst/>
          </a:prstGeom>
          <a:noFill/>
        </p:spPr>
        <p:txBody>
          <a:bodyPr wrap="square">
            <a:spAutoFit/>
          </a:bodyPr>
          <a:lstStyle/>
          <a:p>
            <a:pPr algn="l">
              <a:defRPr sz="2200" b="1">
                <a:solidFill>
                  <a:srgbClr val="00E676"/>
                </a:solidFill>
                <a:latin typeface="Calibri"/>
              </a:defRPr>
            </a:pPr>
            <a:r>
              <a:t>For Practitioners:</a:t>
            </a:r>
          </a:p>
          <a:p>
            <a:pPr>
              <a:spcBef>
                <a:spcPts val="600"/>
              </a:spcBef>
              <a:defRPr sz="800" b="0">
                <a:solidFill>
                  <a:srgbClr val="FFFFFF"/>
                </a:solidFill>
                <a:latin typeface="Calibri"/>
              </a:defRPr>
            </a:pPr>
          </a:p>
          <a:p>
            <a:pPr>
              <a:spcBef>
                <a:spcPts val="800"/>
              </a:spcBef>
              <a:defRPr sz="1800" b="0">
                <a:solidFill>
                  <a:srgbClr val="FFFFFF"/>
                </a:solidFill>
                <a:latin typeface="Calibri"/>
              </a:defRPr>
            </a:pPr>
            <a:r>
              <a:t>AITI: 15 lines of code, free to compute</a:t>
            </a:r>
          </a:p>
          <a:p>
            <a:pPr>
              <a:spcBef>
                <a:spcPts val="400"/>
              </a:spcBef>
              <a:defRPr sz="1600" b="0">
                <a:solidFill>
                  <a:srgbClr val="CCCCCC"/>
                </a:solidFill>
                <a:latin typeface="Calibri"/>
              </a:defRPr>
            </a:pPr>
            <a:r>
              <a:t>  Just wrap your PPO loss with epsilon decay</a:t>
            </a:r>
          </a:p>
          <a:p>
            <a:pPr>
              <a:spcBef>
                <a:spcPts val="400"/>
              </a:spcBef>
              <a:defRPr sz="1600" b="0">
                <a:solidFill>
                  <a:srgbClr val="CCCCCC"/>
                </a:solidFill>
                <a:latin typeface="Calibri"/>
              </a:defRPr>
            </a:pPr>
            <a:r>
              <a:t>  Use |Advantage| scorer (already computed)</a:t>
            </a:r>
          </a:p>
          <a:p>
            <a:pPr>
              <a:spcBef>
                <a:spcPts val="600"/>
              </a:spcBef>
              <a:defRPr sz="1000" b="0">
                <a:solidFill>
                  <a:srgbClr val="FFFFFF"/>
                </a:solidFill>
                <a:latin typeface="Calibri"/>
              </a:defRPr>
            </a:pPr>
          </a:p>
          <a:p>
            <a:pPr>
              <a:spcBef>
                <a:spcPts val="800"/>
              </a:spcBef>
              <a:defRPr sz="1800" b="0">
                <a:solidFill>
                  <a:srgbClr val="FFFFFF"/>
                </a:solidFill>
                <a:latin typeface="Calibri"/>
              </a:defRPr>
            </a:pPr>
            <a:r>
              <a:t>MOAI: slightly more complex, no tuning</a:t>
            </a:r>
          </a:p>
          <a:p>
            <a:pPr>
              <a:spcBef>
                <a:spcPts val="400"/>
              </a:spcBef>
              <a:defRPr sz="1600" b="0">
                <a:solidFill>
                  <a:srgbClr val="CCCCCC"/>
                </a:solidFill>
                <a:latin typeface="Calibri"/>
              </a:defRPr>
            </a:pPr>
            <a:r>
              <a:t>  EMA statistics + monotone constraint</a:t>
            </a:r>
          </a:p>
          <a:p>
            <a:pPr>
              <a:spcBef>
                <a:spcPts val="400"/>
              </a:spcBef>
              <a:defRPr sz="1600" b="0">
                <a:solidFill>
                  <a:srgbClr val="CCCCCC"/>
                </a:solidFill>
                <a:latin typeface="Calibri"/>
              </a:defRPr>
            </a:pPr>
            <a:r>
              <a:t>  No decay_steps hyperparameter</a:t>
            </a:r>
          </a:p>
          <a:p>
            <a:pPr>
              <a:spcBef>
                <a:spcPts val="600"/>
              </a:spcBef>
              <a:defRPr sz="1400" b="0">
                <a:solidFill>
                  <a:srgbClr val="FFFFFF"/>
                </a:solidFill>
                <a:latin typeface="Calibri"/>
              </a:defRPr>
            </a:pPr>
          </a:p>
          <a:p>
            <a:pPr>
              <a:spcBef>
                <a:spcPts val="1200"/>
              </a:spcBef>
              <a:defRPr sz="2200" b="1">
                <a:solidFill>
                  <a:srgbClr val="00D2FF"/>
                </a:solidFill>
                <a:latin typeface="Calibri"/>
              </a:defRPr>
            </a:pPr>
            <a:r>
              <a:t>For Researchers:</a:t>
            </a:r>
          </a:p>
          <a:p>
            <a:pPr>
              <a:spcBef>
                <a:spcPts val="600"/>
              </a:spcBef>
              <a:defRPr sz="800" b="0">
                <a:solidFill>
                  <a:srgbClr val="FFFFFF"/>
                </a:solidFill>
                <a:latin typeface="Calibri"/>
              </a:defRPr>
            </a:pPr>
          </a:p>
          <a:p>
            <a:pPr>
              <a:spcBef>
                <a:spcPts val="800"/>
              </a:spcBef>
              <a:defRPr sz="1800" b="0">
                <a:solidFill>
                  <a:srgbClr val="FFFFFF"/>
                </a:solidFill>
                <a:latin typeface="Calibri"/>
              </a:defRPr>
            </a:pPr>
            <a:r>
              <a:t>The T-dependence prediction is testable</a:t>
            </a:r>
          </a:p>
          <a:p>
            <a:pPr>
              <a:spcBef>
                <a:spcPts val="400"/>
              </a:spcBef>
              <a:defRPr sz="1600" b="0">
                <a:solidFill>
                  <a:srgbClr val="CCCCCC"/>
                </a:solidFill>
                <a:latin typeface="Calibri"/>
              </a:defRPr>
            </a:pPr>
            <a:r>
              <a:t>  Does eps* decrease with longer contexts?</a:t>
            </a:r>
          </a:p>
          <a:p>
            <a:pPr>
              <a:spcBef>
                <a:spcPts val="600"/>
              </a:spcBef>
              <a:defRPr sz="800" b="0">
                <a:solidFill>
                  <a:srgbClr val="FFFFFF"/>
                </a:solidFill>
                <a:latin typeface="Calibri"/>
              </a:defRPr>
            </a:pPr>
          </a:p>
          <a:p>
            <a:pPr>
              <a:spcBef>
                <a:spcPts val="800"/>
              </a:spcBef>
              <a:defRPr sz="1800" b="0">
                <a:solidFill>
                  <a:srgbClr val="FFFFFF"/>
                </a:solidFill>
                <a:latin typeface="Calibri"/>
              </a:defRPr>
            </a:pPr>
            <a:r>
              <a:t>"Find-and-lock" may generalize to</a:t>
            </a:r>
          </a:p>
          <a:p>
            <a:pPr>
              <a:spcBef>
                <a:spcPts val="400"/>
              </a:spcBef>
              <a:defRPr sz="1600" b="0">
                <a:solidFill>
                  <a:srgbClr val="CCCCCC"/>
                </a:solidFill>
                <a:latin typeface="Calibri"/>
              </a:defRPr>
            </a:pPr>
            <a:r>
              <a:t>  other adaptive hyperparameters in RL</a:t>
            </a:r>
          </a:p>
        </p:txBody>
      </p:sp>
      <p:sp>
        <p:nvSpPr>
          <p:cNvPr id="4" name="TextBox 3"/>
          <p:cNvSpPr txBox="1"/>
          <p:nvPr/>
        </p:nvSpPr>
        <p:spPr>
          <a:xfrm>
            <a:off x="6400800" y="1188720"/>
            <a:ext cx="5303520" cy="5029200"/>
          </a:xfrm>
          <a:prstGeom prst="rect">
            <a:avLst/>
          </a:prstGeom>
          <a:noFill/>
        </p:spPr>
        <p:txBody>
          <a:bodyPr wrap="square">
            <a:spAutoFit/>
          </a:bodyPr>
          <a:lstStyle/>
          <a:p>
            <a:pPr algn="l">
              <a:defRPr sz="2200" b="1">
                <a:solidFill>
                  <a:srgbClr val="FF8C00"/>
                </a:solidFill>
                <a:latin typeface="Calibri"/>
              </a:defRPr>
            </a:pPr>
            <a:r>
              <a:t>Limitations:</a:t>
            </a:r>
          </a:p>
          <a:p>
            <a:pPr>
              <a:spcBef>
                <a:spcPts val="600"/>
              </a:spcBef>
              <a:defRPr sz="800" b="0">
                <a:solidFill>
                  <a:srgbClr val="FFFFFF"/>
                </a:solidFill>
                <a:latin typeface="Calibri"/>
              </a:defRPr>
            </a:pPr>
          </a:p>
          <a:p>
            <a:pPr>
              <a:spcBef>
                <a:spcPts val="800"/>
              </a:spcBef>
              <a:defRPr sz="1800" b="0">
                <a:solidFill>
                  <a:srgbClr val="CCCCCC"/>
                </a:solidFill>
                <a:latin typeface="Calibri"/>
              </a:defRPr>
            </a:pPr>
            <a:r>
              <a:t>GPT-2 (124M) + synthetic reward</a:t>
            </a:r>
          </a:p>
          <a:p>
            <a:pPr>
              <a:spcBef>
                <a:spcPts val="400"/>
              </a:spcBef>
              <a:defRPr sz="1600" b="0">
                <a:solidFill>
                  <a:srgbClr val="CCCCCC"/>
                </a:solidFill>
                <a:latin typeface="Calibri"/>
              </a:defRPr>
            </a:pPr>
            <a:r>
              <a:t>  Need validation at 7B+ scale</a:t>
            </a:r>
          </a:p>
          <a:p>
            <a:pPr>
              <a:spcBef>
                <a:spcPts val="600"/>
              </a:spcBef>
              <a:defRPr sz="800" b="0">
                <a:solidFill>
                  <a:srgbClr val="FFFFFF"/>
                </a:solidFill>
                <a:latin typeface="Calibri"/>
              </a:defRPr>
            </a:pPr>
          </a:p>
          <a:p>
            <a:pPr>
              <a:spcBef>
                <a:spcPts val="800"/>
              </a:spcBef>
              <a:defRPr sz="1800" b="0">
                <a:solidFill>
                  <a:srgbClr val="CCCCCC"/>
                </a:solidFill>
                <a:latin typeface="Calibri"/>
              </a:defRPr>
            </a:pPr>
            <a:r>
              <a:t>Single seed per method</a:t>
            </a:r>
          </a:p>
          <a:p>
            <a:pPr>
              <a:spcBef>
                <a:spcPts val="400"/>
              </a:spcBef>
              <a:defRPr sz="1600" b="0">
                <a:solidFill>
                  <a:srgbClr val="CCCCCC"/>
                </a:solidFill>
                <a:latin typeface="Calibri"/>
              </a:defRPr>
            </a:pPr>
            <a:r>
              <a:t>  Need multi-seed significance tests</a:t>
            </a:r>
          </a:p>
          <a:p>
            <a:pPr>
              <a:spcBef>
                <a:spcPts val="600"/>
              </a:spcBef>
              <a:defRPr sz="800" b="0">
                <a:solidFill>
                  <a:srgbClr val="FFFFFF"/>
                </a:solidFill>
                <a:latin typeface="Calibri"/>
              </a:defRPr>
            </a:pPr>
          </a:p>
          <a:p>
            <a:pPr>
              <a:spcBef>
                <a:spcPts val="800"/>
              </a:spcBef>
              <a:defRPr sz="1800" b="0">
                <a:solidFill>
                  <a:srgbClr val="CCCCCC"/>
                </a:solidFill>
                <a:latin typeface="Calibri"/>
              </a:defRPr>
            </a:pPr>
            <a:r>
              <a:t>Batch size = 4 (noisy statistics)</a:t>
            </a:r>
          </a:p>
          <a:p>
            <a:pPr>
              <a:spcBef>
                <a:spcPts val="400"/>
              </a:spcBef>
              <a:defRPr sz="1600" b="0">
                <a:solidFill>
                  <a:srgbClr val="CCCCCC"/>
                </a:solidFill>
                <a:latin typeface="Calibri"/>
              </a:defRPr>
            </a:pPr>
            <a:r>
              <a:t>  Larger batches may help MOAI</a:t>
            </a:r>
          </a:p>
          <a:p>
            <a:pPr>
              <a:spcBef>
                <a:spcPts val="600"/>
              </a:spcBef>
              <a:defRPr sz="1400" b="0">
                <a:solidFill>
                  <a:srgbClr val="FFFFFF"/>
                </a:solidFill>
                <a:latin typeface="Calibri"/>
              </a:defRPr>
            </a:pPr>
          </a:p>
          <a:p>
            <a:pPr>
              <a:spcBef>
                <a:spcPts val="1200"/>
              </a:spcBef>
              <a:defRPr sz="2200" b="1">
                <a:solidFill>
                  <a:srgbClr val="FFD700"/>
                </a:solidFill>
                <a:latin typeface="Calibri"/>
              </a:defRPr>
            </a:pPr>
            <a:r>
              <a:t>Future Work:</a:t>
            </a:r>
          </a:p>
          <a:p>
            <a:pPr>
              <a:spcBef>
                <a:spcPts val="600"/>
              </a:spcBef>
              <a:defRPr sz="800" b="0">
                <a:solidFill>
                  <a:srgbClr val="FFFFFF"/>
                </a:solidFill>
                <a:latin typeface="Calibri"/>
              </a:defRPr>
            </a:pPr>
          </a:p>
          <a:p>
            <a:pPr>
              <a:spcBef>
                <a:spcPts val="800"/>
              </a:spcBef>
              <a:defRPr sz="1800" b="0">
                <a:solidFill>
                  <a:srgbClr val="FFFFFF"/>
                </a:solidFill>
                <a:latin typeface="Calibri"/>
              </a:defRPr>
            </a:pPr>
            <a:r>
              <a:t>Scale to 7B+ with real reward models</a:t>
            </a:r>
          </a:p>
          <a:p>
            <a:pPr>
              <a:spcBef>
                <a:spcPts val="800"/>
              </a:spcBef>
              <a:defRPr sz="1800" b="0">
                <a:solidFill>
                  <a:srgbClr val="FFFFFF"/>
                </a:solidFill>
                <a:latin typeface="Calibri"/>
              </a:defRPr>
            </a:pPr>
            <a:r>
              <a:t>Apply to DPO and GRPO</a:t>
            </a:r>
          </a:p>
          <a:p>
            <a:pPr>
              <a:spcBef>
                <a:spcPts val="800"/>
              </a:spcBef>
              <a:defRPr sz="1800" b="0">
                <a:solidFill>
                  <a:srgbClr val="FFFFFF"/>
                </a:solidFill>
                <a:latin typeface="Calibri"/>
              </a:defRPr>
            </a:pPr>
            <a:r>
              <a:t>Test T-dependence prediction at scale</a:t>
            </a:r>
          </a:p>
          <a:p>
            <a:pPr>
              <a:spcBef>
                <a:spcPts val="800"/>
              </a:spcBef>
              <a:defRPr sz="1800" b="0">
                <a:solidFill>
                  <a:srgbClr val="FFFFFF"/>
                </a:solidFill>
                <a:latin typeface="Calibri"/>
              </a:defRPr>
            </a:pPr>
            <a:r>
              <a:t>Formalize cumulative MSE optimization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828800"/>
            <a:ext cx="10332720" cy="109728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3" name="TextBox 2"/>
          <p:cNvSpPr txBox="1"/>
          <p:nvPr/>
        </p:nvSpPr>
        <p:spPr>
          <a:xfrm>
            <a:off x="1828800" y="3200400"/>
            <a:ext cx="8503920" cy="2743200"/>
          </a:xfrm>
          <a:prstGeom prst="rect">
            <a:avLst/>
          </a:prstGeom>
          <a:noFill/>
        </p:spPr>
        <p:txBody>
          <a:bodyPr wrap="square">
            <a:spAutoFit/>
          </a:bodyPr>
          <a:lstStyle/>
          <a:p>
            <a:pPr algn="ctr">
              <a:defRPr sz="2400" b="1">
                <a:solidFill>
                  <a:srgbClr val="00D2FF"/>
                </a:solidFill>
                <a:latin typeface="Calibri"/>
              </a:defRPr>
            </a:pPr>
            <a:r>
              <a:t>Key Contributions:</a:t>
            </a:r>
          </a:p>
          <a:p>
            <a:pPr>
              <a:spcBef>
                <a:spcPts val="600"/>
              </a:spcBef>
              <a:defRPr sz="800" b="0">
                <a:solidFill>
                  <a:srgbClr val="FFFFFF"/>
                </a:solidFill>
                <a:latin typeface="Calibri"/>
              </a:defRPr>
            </a:pPr>
          </a:p>
          <a:p>
            <a:pPr algn="ctr">
              <a:spcBef>
                <a:spcPts val="800"/>
              </a:spcBef>
              <a:defRPr sz="2000" b="0">
                <a:solidFill>
                  <a:srgbClr val="FFFFFF"/>
                </a:solidFill>
                <a:latin typeface="Calibri"/>
              </a:defRPr>
            </a:pPr>
            <a:r>
              <a:t>Bias-variance analysis of token importance in RLHF</a:t>
            </a:r>
          </a:p>
          <a:p>
            <a:pPr algn="ctr">
              <a:spcBef>
                <a:spcPts val="800"/>
              </a:spcBef>
              <a:defRPr sz="2000" b="0">
                <a:solidFill>
                  <a:srgbClr val="FFFFFF"/>
                </a:solidFill>
                <a:latin typeface="Calibri"/>
              </a:defRPr>
            </a:pPr>
            <a:r>
              <a:t>AITI: Pareto-optimal via intensity decay</a:t>
            </a:r>
          </a:p>
          <a:p>
            <a:pPr algn="ctr">
              <a:spcBef>
                <a:spcPts val="800"/>
              </a:spcBef>
              <a:defRPr sz="2000" b="0">
                <a:solidFill>
                  <a:srgbClr val="FFFFFF"/>
                </a:solidFill>
                <a:latin typeface="Calibri"/>
              </a:defRPr>
            </a:pPr>
            <a:r>
              <a:t>MOAI: Closed-form MSE-optimal intensity</a:t>
            </a:r>
          </a:p>
          <a:p>
            <a:pPr algn="ctr">
              <a:spcBef>
                <a:spcPts val="800"/>
              </a:spcBef>
              <a:defRPr sz="2000" b="0">
                <a:solidFill>
                  <a:srgbClr val="FFFFFF"/>
                </a:solidFill>
                <a:latin typeface="Calibri"/>
              </a:defRPr>
            </a:pPr>
            <a:r>
              <a:t>Monotone "find-and-lock" beats both schedules and adaptive methods</a:t>
            </a:r>
          </a:p>
        </p:txBody>
      </p:sp>
      <p:sp>
        <p:nvSpPr>
          <p:cNvPr id="4" name="TextBox 3"/>
          <p:cNvSpPr txBox="1"/>
          <p:nvPr/>
        </p:nvSpPr>
        <p:spPr>
          <a:xfrm>
            <a:off x="914400" y="5486400"/>
            <a:ext cx="10332720" cy="457200"/>
          </a:xfrm>
          <a:prstGeom prst="rect">
            <a:avLst/>
          </a:prstGeom>
          <a:noFill/>
        </p:spPr>
        <p:txBody>
          <a:bodyPr wrap="square">
            <a:spAutoFit/>
          </a:bodyPr>
          <a:lstStyle/>
          <a:p>
            <a:pPr algn="ctr">
              <a:defRPr sz="1600" b="0">
                <a:solidFill>
                  <a:srgbClr val="CCCCCC"/>
                </a:solidFill>
                <a:latin typeface="Calibri"/>
              </a:defRPr>
            </a:pPr>
            <a:r>
              <a:t>Code &amp; results: 291K/  |  19 importance methods  |  6 benchmark scripts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